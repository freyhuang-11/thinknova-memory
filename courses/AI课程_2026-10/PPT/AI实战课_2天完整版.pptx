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</p:sldIdLst>
  <p:notesMasterIdLst>
    <p:notesMasterId r:id="rId1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05502bb3-0d1b-2090-fbbc-30b851afbd8a}">
          <p14:sldIdLst>
            <p14:sldId id="256"/>
            <p14:sldId id="257"/>
            <p14:sldId id="258"/>
            <p14:sldId id="259"/>
          </p14:sldIdLst>
        </p14:section>
        <p14:section name="AI 是怎么工作的" id="{893a19c8-dc23-1ba6-65ed-6b8c82d1c8e2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必懂的 AI 核心概念" id="{a1e31214-fecc-2963-ae6c-d019fcef6c93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Claude Code 上手" id="{05ef3f7f-8b48-108c-72ea-d42f334801d5}">
          <p14:sldIdLst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Codex 与对比" id="{9c807131-8f7b-b74b-7024-3d667da42ff6}">
          <p14:sldIdLst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让 AI 守规矩" id="{f157c64f-dc20-441e-ca6d-7e269422a3f3}">
          <p14:sldIdLst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</p14:sldIdLst>
        </p14:section>
        <p14:section name="搭建 AI 工作流" id="{beb46922-7b5e-ab6b-c371-10bb8863a4de}">
          <p14:sldIdLst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</p14:sldIdLst>
        </p14:section>
        <p14:section name="实战：AI 漫剧与营销短视频" id="{ddea16e6-16d9-f0b3-fcd0-820aba1aea59}">
          <p14:sldIdLst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</p14:sldIdLst>
        </p14:section>
        <p14:section name="记得提交到 GitHub" id="{1b7c6511-260a-1ab7-42ee-47266af4a560}">
          <p14:sldIdLst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</p14:sldIdLst>
        </p14:section>
        <p14:section name="总结与结业" id="{5308d716-7892-b286-3347-00e6f77752df}">
          <p14:sldIdLst>
            <p14:sldId id="365"/>
            <p14:sldId id="366"/>
            <p14:sldId id="367"/>
            <p14:sldId id="368"/>
            <p14:sldId id="369"/>
            <p14:sldId id="370"/>
            <p14:sldId id="3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notesMaster" Target="notesMasters/notesMaster1.xml"/><Relationship Id="rId119" Type="http://schemas.openxmlformats.org/officeDocument/2006/relationships/presProps" Target="presProps.xml"/><Relationship Id="rId120" Type="http://schemas.openxmlformats.org/officeDocument/2006/relationships/viewProps" Target="viewProps.xml"/><Relationship Id="rId121" Type="http://schemas.openxmlformats.org/officeDocument/2006/relationships/theme" Target="theme/theme1.xml"/><Relationship Id="rId1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封面。自我介绍 2 分钟：我们是谁（ThinkNova，做 AI 营销视频的团队），为什么讲这堂课（我们每天都在用 AI 干活，踩过很多坑）。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 分钟。先说清今天的四个收获，让学员知道这不是一堂讲技术名词的课，而是一堂「学完能用」的课。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两天安排：第一天打基础（原理、概念、Claude Code），第二天讲方法和实战（规则、工作流、AI 视频、GitHub）。两天各有一次动手实操。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抛出主题：工具人人都能买到，差距在用法。可以问学员：你现在用 AI 主要做什么？大多数人的答案是「问问题」，今天要把它升级成「派活」。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1 部分：AI 是怎么工作的。从「聊天机器人」到「会干活的助手」。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核心认知：AI 的回答质量 = 模型能力 × 你给它的资料质量。第二项是我们能控制的。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逐个过一遍，每个配一个生活例子。重点强调「天生没记忆」，后面讲记忆和 GitHub 都会回到这一点。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让学员建立成本意识：不是资料越多越好，而是越相关越好。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引出后面「一个任务一个对话」的用法。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这是信任 AI 的边界。强调「结论必须能回到真实数据」——这是我们团队的铁律。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用「老板和助理」比喻：AI 是出主意的老板，系统是跑腿的助理。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的关键词是「自主决定」：用哪个工具、用几次、什么时候停。如果每一步都是人写死的，那叫工作流，不叫 Agent。后面会对比。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以「帮我修一个网页问题」为例走一遍。让学员看到：AI 和系统在轮流干活。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这页是全课最实用的一张表，建议学员拍照。重点讲最后两行：很多人一出错就换模型，其实问题在自己的指令里。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新一代 AI 可以调思考强度。简单任务开高强度只是更慢更贵。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分钟回顾，进入概念模块。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2 部分：必懂的 AI 核心概念。Skills、Agent、Harness、MCP、RAG、Memory……一次讲清。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先给全景图，后面每个词都回到这张图上定位。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现场可以让学员把自己常用的一句提示词改写成具体版本。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这是比「提示词技巧」更重要的能力。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简单过。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举 ThinkNova 的例子：出一条视频的六个步骤是固定的工作流；但用 AI 去排查「为什么这条视频没声音」就是 Agent。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选型口诀。业界共识：从最简单的方案开始。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强调最后一句，这是我们自己踩过的坑。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 是把你的经验变成 AI 的标准动作。后面会教怎么用。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对比：如果把所有规则都写进提示词，桌子早就塞满了。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这是理解后面两个工具的钥匙：我们学的其实是两套「制度」怎么用。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非技术学员只要知道：想让 AI 连上某个软件，先问有没有它的 MCP。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比喻：开卷考试。常见坑：资料里新旧版本并存，AI 会查到旧的。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我们的记忆库就是第二种：用一张「做什么事先看哪个文件」的路由表来引导 AI 自己翻。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强调「记忆就是文件」，为 GitHub 模块埋伏笔。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简单过。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这是「管住 AI」最硬的一层，第五模块会细讲。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模式强烈推荐所有人使用：先拍板再动手。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收尾回到分层图，让学员能自己把词放回对应的层。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两两分享 3 分钟，点 2 位学员分享。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3 部分：Claude Code 上手。一个会自己动手的 AI 同事。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强调：不是程序员专用。我们团队的运营工作大量是用它完成的。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非技术学员建议从桌面 App 或网页版开始。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现场演示一遍。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下一模块会给模板。重点：短、具体、写清红线。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埋伏笔：记忆是文件 → 要备份 → GitHub。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建议：大事先用计划模式。「全部放行」日常不要开。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非技术学员知道有这个开关、知道找谁设置即可。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可以展示一个现成技能的目录和说明。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简单过。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非技术学员：知道可以连接，需要时找同事帮忙配置。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最常见的问题就是一个对话干一整天，越干越乱。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让学员看到可能性，不展开操作。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不用背，知道输入 / 会弹出菜单即可。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条全是我们日常在用的。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讲师现场操作，学员跟看。重点展示：方案 → 批准 → 执行 → 自检 → 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第一天的收尾实操。控制在一页以内，越短越好。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4 部分：Codex 与对比。OpenAI 的 AI 助手，怎么选、怎么一起用。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很多学员已经有 ChatGPT 账号，可以直接试。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简单过。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 把「问不问」和「能动哪」分成两个开关，这是它和 Claude Code 设计上最大的区别。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强调：全部放开只在测试环境。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提示：旧教程里的一些命令已经改名，以软件里输入 / 弹出的菜单为准。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和 Claude Code 的标准用法几乎一样——说明方法是通用的。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结论：两者能力已高度接近，学会一个，另一个很快上手。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工具每个月都在更新，方法不会过时。这也是今天这堂课的核心。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5 部分：让 AI 守规矩。规则与记忆的控制方法。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从弱到强。关键：力度要和后果匹配。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这是本模块最重要的一句话。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控制在一页以内。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每条配一个例子讲。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我们的真实经验：同一个目标，只把禁令改成指派，结果从全失败变成全成功。必须禁止时，后面立刻跟一个替代做法。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检查方法：加一条规则前，先问「它和哪条冲突、挤掉了谁」。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以我们自己的记忆库为例。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每一条都是我们真实踩过的坑。记忆的价值在于「准」，不在于「多」。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简单过。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说「一定、全部、不可能」这种话之前，必须回到最高层核对。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不缺规矩，缺的是动手那一刻想起规矩。让它先写出来，你就能检查它有没有照做。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6 部分：搭建 AI 工作流。把一件事拆成 AI 能稳定完成的流水线。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这是业界通用的五种模式（来自 Anthropic 的 Agent 设计指南）。原则：从最简单的开始。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防止学员一上来就想搞多 AI 协作。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逐步讲，每步配一个视频生成的例子。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「不负责」那一列最重要：边界不清，各步就会互相打架。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这就是「先审后花钱」。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从左上到右下，难度递增。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派给 AI、派给子 Agent、派给同事都适用。建议学员存成模板。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发给学员当工具用。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小组讨论，选一组上台讲。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7 部分：实战：AI 漫剧与营销短视频。一条 AI 视频是怎么生成的。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每一步都是一个 AI 模型在干活，整体是一条「接力」工作流。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这是所有 AI 视频的通病。文字描述「一个穿红衣服的女孩」，每个镜头都会是不同的女孩。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这是一条典型的「接力」工作流，中间编剧这一步是 AI 自主创作。不展开内部参数。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对外口径：即将上线，不承诺时间、不演示界面。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核心思路：具体内容全交给编剧，画面和视频层只管质量和风格。这样各层不打架，每条片又能不一样。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第二条只针对视频；海报本来就要有标题和价格。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这是我们对编剧层的定调。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举例：优惠活动用故事型；新品、门店介绍用叙事型；价目表、通知用直给型。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例子：编剧写了「整只烤鸡」，产品其实是切块的——画面就会照着文字画错。所以外形交给参考图，编剧只管拍什么。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每一条都对应前面讲过的一个原则，可以回顾串起来。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我们的产品原则：用户是不懂提示词的老板。每种行业、每种场景的选项都提前配好，点完就能出片。需要用户自己琢磨调参数，就是失败。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从学员自身出发：在座有没有自己做生意、或服务做生意的客户的？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ThinkNova 介绍。口径：给小生意做营销视频和海报的工具，自己动手、不用拍不用剪。积分和活动以官网当天为准。不承诺效果，不承诺替客户做样片。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引导现场注册体验。只放官网，不放个人电话。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写完可以现场用 ThinkNova 生成一条对比。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8 部分：记得提交到 GitHub。让 AI 的记忆和你的成果永不丢失。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回到开头：AI 天生没记忆，它的记忆就是一堆文件。文件就会丢。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非技术学员只需要记住这一个习惯。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这是我们自己的做法：AI 记忆每天自动备份到 GitHub。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简单明了。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这是整节课最需要记住的一句话。可以现场演示一次。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第三条很重要：密码放进去，就等于交给了所有能看到仓库的人。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现身说法。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9 部分：总结与结业。带走就能用的方法。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全课浓缩成这七步。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快速过，鼓励学员对照自己。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安全是底线。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参考答案：1 谁定步骤；2 按需加载；3 红线要系统拦截；4 指令是否自相矛盾；5 参考图；6 是文件，提交到 GitHub。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给出明确的行动清单。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答疑 + 合影。再次展示官网。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AI 实战课 · ThinkNova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852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STATEM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image" Target="../media/image-67-5.png"/><Relationship Id="rId6" Type="http://schemas.openxmlformats.org/officeDocument/2006/relationships/image" Target="../media/image-6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image" Target="../media/image-77-4.png"/><Relationship Id="rId5" Type="http://schemas.openxmlformats.org/officeDocument/2006/relationships/image" Target="../media/image-7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image" Target="../media/image-82-3.png"/><Relationship Id="rId4" Type="http://schemas.openxmlformats.org/officeDocument/2006/relationships/image" Target="../media/image-8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image" Target="../media/image-84-3.png"/><Relationship Id="rId4" Type="http://schemas.openxmlformats.org/officeDocument/2006/relationships/image" Target="../media/image-84-4.png"/><Relationship Id="rId5" Type="http://schemas.openxmlformats.org/officeDocument/2006/relationships/image" Target="../media/image-84-5.png"/><Relationship Id="rId6" Type="http://schemas.openxmlformats.org/officeDocument/2006/relationships/image" Target="../media/image-84-6.png"/><Relationship Id="rId7" Type="http://schemas.openxmlformats.org/officeDocument/2006/relationships/image" Target="../media/image-84-7.png"/><Relationship Id="rId8" Type="http://schemas.openxmlformats.org/officeDocument/2006/relationships/image" Target="../media/image-84-8.png"/><Relationship Id="rId9" Type="http://schemas.openxmlformats.org/officeDocument/2006/relationships/image" Target="../media/image-8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image" Target="../media/image-89-3.png"/><Relationship Id="rId4" Type="http://schemas.openxmlformats.org/officeDocument/2006/relationships/image" Target="../media/image-89-4.png"/><Relationship Id="rId5" Type="http://schemas.openxmlformats.org/officeDocument/2006/relationships/image" Target="../media/image-8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image" Target="../media/image-9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png"/><Relationship Id="rId3" Type="http://schemas.openxmlformats.org/officeDocument/2006/relationships/image" Target="../media/image-98-3.png"/><Relationship Id="rId4" Type="http://schemas.openxmlformats.org/officeDocument/2006/relationships/image" Target="../media/image-9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image" Target="../media/image-99-2.png"/><Relationship Id="rId3" Type="http://schemas.openxmlformats.org/officeDocument/2006/relationships/image" Target="../media/image-99-3.png"/><Relationship Id="rId4" Type="http://schemas.openxmlformats.org/officeDocument/2006/relationships/image" Target="../media/image-9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image" Target="../media/image-100-2.png"/><Relationship Id="rId3" Type="http://schemas.openxmlformats.org/officeDocument/2006/relationships/image" Target="../media/image-10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image" Target="../media/image-105-2.png"/><Relationship Id="rId3" Type="http://schemas.openxmlformats.org/officeDocument/2006/relationships/image" Target="../media/image-105-3.png"/><Relationship Id="rId4" Type="http://schemas.openxmlformats.org/officeDocument/2006/relationships/image" Target="../media/image-10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image" Target="../media/image-106-2.png"/><Relationship Id="rId3" Type="http://schemas.openxmlformats.org/officeDocument/2006/relationships/image" Target="../media/image-10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image" Target="../media/image-108-2.png"/><Relationship Id="rId3" Type="http://schemas.openxmlformats.org/officeDocument/2006/relationships/image" Target="../media/image-10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image" Target="../media/image-113-2.png"/><Relationship Id="rId3" Type="http://schemas.openxmlformats.org/officeDocument/2006/relationships/image" Target="../media/image-113-3.png"/><Relationship Id="rId4" Type="http://schemas.openxmlformats.org/officeDocument/2006/relationships/image" Target="../media/image-113-4.png"/><Relationship Id="rId5" Type="http://schemas.openxmlformats.org/officeDocument/2006/relationships/image" Target="../media/image-1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image" Target="../media/image-115-2.png"/><Relationship Id="rId3" Type="http://schemas.openxmlformats.org/officeDocument/2006/relationships/image" Target="../media/image-115-3.png"/><Relationship Id="rId4" Type="http://schemas.openxmlformats.org/officeDocument/2006/relationships/image" Target="../media/image-1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实战课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Claude Code × Codex × AI 视频生成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2011680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天完整版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主办 · ThinkNova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640080"/>
            <a:ext cx="3291840" cy="3291840"/>
          </a:xfrm>
          <a:prstGeom prst="ellipse">
            <a:avLst/>
          </a:prstGeom>
          <a:solidFill>
            <a:schemeClr val="accent2">
              <a:alpha val="8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2743200"/>
            <a:ext cx="2011680" cy="2011680"/>
          </a:xfrm>
          <a:prstGeom prst="ellipse">
            <a:avLst/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459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今天你会带走什么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看懂 AI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知道 AI 到底怎么工作，出了错知道往哪查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会用工具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上手 Claude Code 和 Codex 两个 AI 助手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管住 AI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用规则和记忆，让 AI 每次都按你的规矩来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看懂 AI 视频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一条 AI 营销视频是怎么一步步生成的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两天课程安排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第 1 天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7764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09:30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是怎么工作的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12264"/>
            <a:ext cx="397764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1226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11:00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11226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核心概念（上）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15768"/>
            <a:ext cx="397764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71576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13:30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71576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核心概念（下）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19272"/>
            <a:ext cx="397764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31927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14:45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319272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Claude Code 上手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922776"/>
            <a:ext cx="397764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922776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16:15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922776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实操 1：AI 员工手册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10058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第 2 天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09160" y="1508760"/>
            <a:ext cx="397764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150876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09:30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1508760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Codex 与对比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09160" y="2112264"/>
            <a:ext cx="397764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211226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10:45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11226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让 AI 守规矩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09160" y="2715768"/>
            <a:ext cx="397764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92040" y="271576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13:00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271576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搭建 AI 工作流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709160" y="3319272"/>
            <a:ext cx="397764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92040" y="331927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14:15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760720" y="3319272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实战：AI 视频生成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709160" y="3922776"/>
            <a:ext cx="397764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92040" y="3922776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16:00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760720" y="3922776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GitHub · 总结结业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每天 9:30–17:00 · 午休 12:30–13:30 · 上下午各一次茶歇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不缺能力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缺的是会用它的人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同一个 AI，会用的人当成一个团队，不会用的人当成一个搜索框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是怎么工作的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从「聊天机器人」到「会干活的助手」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 1 天 · 09:30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一句话看懂大模型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大模型（LLM）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读完你给它的全部内容，然后接出最可能的下一段话。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它不是查数据库，也不是真的「懂」，而是一个读过海量文字的「接话高手」。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像一个记性极好、但每次见面都失忆的顾问：你给他看什么资料，他就基于什么回答。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同一个问题，你多给一份产品资料，回答立刻专业很多。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必须知道的 5 个特点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按「字块」计算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AI 按 token 计费和计量，中文约一两个字一个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66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3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12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桌面有大小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0812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一次能看的资料有上限，叫上下文窗口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960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752" y="137160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06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天生没记忆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9006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每次对话都是新的，「记忆」是系统帮它重新塞进去的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618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每次不一样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2618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同一句话问两次，答案可能不同，这是正常的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766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94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352" y="324612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812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知识有截止日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0812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最新的价格、政策、版本，必须让它现查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960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788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752" y="3246120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06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会一本正经胡说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9006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叫「幻觉」，所以结论要能回到真实数据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Token：AI 的计量单位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Token（字块）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模型读写文字的最小单位。计费、速度、上限都按它算，不按字数。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你发的资料越长、AI 回得越长，用掉的 token 越多，钱也越多。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像打车按公里计价：资料就是路程，越绕越贵。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把 50 页手册整份丢给 AI，不如只给它相关的 3 页——又快又准又省。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上下文窗口：AI 的办公桌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上下文窗口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一次能「看见」的全部内容：系统设定 + 聊天记录 + 文件 + 工具结果。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桌子摆满了，旧的东西就会被挤掉或压缩，AI 会开始「忘事」和「变笨」。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一张办公桌，摆得越乱越满，越难找到要紧的那张纸。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聊了两小时还在同一个对话里改方案，AI 开始前后矛盾——该开新对话了。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为什么会「胡说」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幻觉（Hallucination）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生成看起来合理、但并不真实的内容。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它的任务是「接得像」，不是「保证对」。没给它真资料时，它会自己补。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像一个不懂装懂的新员工：你不给资料，他也会硬交一份像样的报告。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防法：① 给它真资料 ② 要求它注明出处 ③ 关键结论自己回查原始数据。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从聊天到干活：工具调用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333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2115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115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告诉它有哪些工具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读文件、搜索、发邮件、调接口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907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689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89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它说要用哪个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877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「我要读这个文件」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81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263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63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系统真的去执行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451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把结果交回给它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837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837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它决定下一步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继续用工具，或给出答案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自己不会动手，是外面的系统替它动手——这层系统叫 Harness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Agent：会自己循环干活的 AI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691640"/>
            <a:ext cx="17373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你给一个目标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0280" y="2125980"/>
            <a:ext cx="365760" cy="0"/>
          </a:xfrm>
          <a:prstGeom prst="line">
            <a:avLst/>
          </a:prstGeom>
          <a:noFill/>
          <a:ln w="25400">
            <a:solidFill>
              <a:srgbClr val="4A4E7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51760" y="169164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6916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想：下一步做什么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2125980"/>
            <a:ext cx="365760" cy="0"/>
          </a:xfrm>
          <a:prstGeom prst="line">
            <a:avLst/>
          </a:prstGeom>
          <a:noFill/>
          <a:ln w="25400">
            <a:solidFill>
              <a:srgbClr val="4A4E7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37760" y="169164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6916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系统执行工具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12280" y="2125980"/>
            <a:ext cx="365760" cy="0"/>
          </a:xfrm>
          <a:prstGeom prst="line">
            <a:avLst/>
          </a:prstGeom>
          <a:noFill/>
          <a:ln w="25400">
            <a:solidFill>
              <a:srgbClr val="4A4E7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23760" y="1691640"/>
            <a:ext cx="146304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16916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看结果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1234440"/>
            <a:ext cx="0" cy="457200"/>
          </a:xfrm>
          <a:prstGeom prst="line">
            <a:avLst/>
          </a:prstGeom>
          <a:noFill/>
          <a:ln w="25400">
            <a:solidFill>
              <a:srgbClr val="FF6A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234440"/>
            <a:ext cx="4389120" cy="0"/>
          </a:xfrm>
          <a:prstGeom prst="line">
            <a:avLst/>
          </a:prstGeom>
          <a:noFill/>
          <a:ln w="25400">
            <a:solidFill>
              <a:srgbClr val="FF6A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1234440"/>
            <a:ext cx="0" cy="438912"/>
          </a:xfrm>
          <a:prstGeom prst="line">
            <a:avLst/>
          </a:prstGeom>
          <a:noFill/>
          <a:ln w="25400">
            <a:solidFill>
              <a:srgbClr val="FF6A3D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0" y="960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没完成？再来一轮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2578608"/>
            <a:ext cx="0" cy="576072"/>
          </a:xfrm>
          <a:prstGeom prst="line">
            <a:avLst/>
          </a:prstGeom>
          <a:noFill/>
          <a:ln w="25400">
            <a:solidFill>
              <a:srgbClr val="4A4E7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51760" y="3154680"/>
            <a:ext cx="18288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5176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完成 → 向你汇报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1546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关键：用哪个工具、用几次、什么时候停——都由 AI 自己决定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派一个任务时，背后发生了什么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5943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谁在干活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发生了什么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把你的规则、记忆、可用工具和你的要求一起摆上桌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想：先找相关文件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检查有没有权限 → 执行搜索 → 把结果交回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读文件、找到问题、决定怎么改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改之前再查一次权限，改完自动做检查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自己验证结果对不对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向你汇报：做了什么、验了什么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出错时，先分清是哪一层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34747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你看到的现象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多半是哪层的问题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先查什么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不知道你的规矩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资料没给够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规则写了吗？写得太长被忽略了吗？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用了过时的信息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记忆过期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旧结论没删？该现查的没现查？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一直问你、不敢做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权限太紧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权限设置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做过头、乱改东西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指令有歧义或权限太松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说清边界，收紧权限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换了几个 AI 都报同样的错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你的指令自相矛盾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不是 AI 不行，是指令打架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越聊越笨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桌面塞满了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压缩或开新对话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推理强度：想得多不一定更好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适合「多想想」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做方案、做规划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复杂问题排查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多个条件要同时满足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适合「快点做」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改错别字、改格式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批量重复操作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简单问答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本节小结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344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是没有记忆的「接话高手」，聪明程度取决于你给的资料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562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7335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Agent = AI + 工具 + 循环 + 自己做决定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7802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9514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外面那层替 AI 动手、管权限的系统，叫 Harness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2916936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0175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099816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291693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出了问题先分层，别一上来就换 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必懂的 AI 核心概念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Skills、Agent、Harness、MCP、RAG、Memory……一次讲清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 1 天 · 11:00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一张图看懂 AI 系统的分层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377440" cy="495300"/>
          </a:xfrm>
          <a:prstGeom prst="roundRect">
            <a:avLst>
              <a:gd name="adj" fmla="val 22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2103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应用层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051560"/>
            <a:ext cx="5486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你的业务：AI 视频生成、客服、写文案……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56588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56588"/>
            <a:ext cx="2377440" cy="495300"/>
          </a:xfrm>
          <a:prstGeom prst="roundRect">
            <a:avLst>
              <a:gd name="adj" fmla="val 22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656588"/>
            <a:ext cx="2103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编排层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1656588"/>
            <a:ext cx="5486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工作流（人定步骤）／ Agent（AI 定步骤）／ 子 Agent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61616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61616"/>
            <a:ext cx="2377440" cy="495300"/>
          </a:xfrm>
          <a:prstGeom prst="roundRect">
            <a:avLst>
              <a:gd name="adj" fmla="val 22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261616"/>
            <a:ext cx="2103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能力层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261616"/>
            <a:ext cx="5486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工具 · MCP（接外部工具）· Skills（技能包）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866644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66644"/>
            <a:ext cx="2377440" cy="495300"/>
          </a:xfrm>
          <a:prstGeom prst="roundRect">
            <a:avLst>
              <a:gd name="adj" fmla="val 22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866644"/>
            <a:ext cx="2103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资料层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2866644"/>
            <a:ext cx="5486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设定 · 规则文件 · 记忆 · 检索来的知识（RAG）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471672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71672"/>
            <a:ext cx="2377440" cy="495300"/>
          </a:xfrm>
          <a:prstGeom prst="roundRect">
            <a:avLst>
              <a:gd name="adj" fmla="val 22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471672"/>
            <a:ext cx="2103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Harness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063240" y="3471672"/>
            <a:ext cx="5486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权限 · 安全隔离 · 自动规则（Hooks）· 会话管理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07670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76700"/>
            <a:ext cx="2377440" cy="495300"/>
          </a:xfrm>
          <a:prstGeom prst="roundRect">
            <a:avLst>
              <a:gd name="adj" fmla="val 221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4076700"/>
            <a:ext cx="2103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模型层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063240" y="4076700"/>
            <a:ext cx="5486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大模型 · 生图 · 生视频 · 配音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Prompt：给 AI 的指令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Prompt（提示词）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你输入给 AI 的指令。分固定的「岗位说明书」（系统提示词）和每次的「任务单」。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说得越具体，AI 越少自己猜。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岗位说明书 + 今天的任务单。新员工两样都要有，才知道干什么、怎么干。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❌「帮我写个文案」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✅「给奶茶店新品写 3 条小红书标题，每条不超过 20 字，口吻像闺蜜推荐」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上下文工程：桌上摆什么资料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上下文工程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设计「AI 干活那一刻，桌上摆哪些资料、按什么顺序、摆多少」。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不只是话怎么说，更是资料怎么给。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开会前准备资料：相关的才放、重要的放最上面、越精简越好。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三原则：只放相关的 · 重要的放前面 · 能短就短（每多一个字都在分散注意力）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工具：AI 的手和脚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Tool（工具）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提前告诉 AI 的一项能力：叫什么、能做什么、需要什么参数。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说「我要用它」，系统负责真正执行。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给助理的一串钥匙：能开哪些门，事先说好。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读文件、搜网页、查订单、发邮件、生成图片，都是工具。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Agent 和工作流，有什么区别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工作流 Workflow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步骤由人提前写死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稳定、可预测、成本可控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适合：固定流程，比如出片流水线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智能体 Agent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步骤由 AI 自己决定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灵活，但不可预测、成本波动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适合：开放问题，比如排查故障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能用工作流，就别用 Agent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只有「下一步做什么取决于上一步结果、而且没法提前列完」时，才交给 Agent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子 Agent：派出去的分身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Sub-agent（子智能体）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主 AI 派出去做一件子任务的独立 AI，有自己的办公桌，只把结论交回来。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好处：不弄乱主对话、可以同时开工、可以专人专岗。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项目经理派三个同事分头调研，每人只交一页结论。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⚠️ 分身也会出错：转述它的结论之前，自己核一遍。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Skill：可复用的技能包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Skill（技能）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一个装好「怎么做某件事」的文件夹：说明书 + 步骤 + 模板 + 小工具。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平时只记住目录，用到哪个才翻开哪个，所以可以装几十上百个。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员工手册：目录记在脑子里，遇到报销才翻报销那一章。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「写小红书笔记」技能：选题 → 标题 → 配图 → 文案 → 自检，每次都按这个流程走。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Skill 为什么不占地方：按需加载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176272" y="1737360"/>
            <a:ext cx="20482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5544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平时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70048"/>
            <a:ext cx="2596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只放每个技能的名字和一句话说明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19472" y="1737360"/>
            <a:ext cx="20482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976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任务匹配时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273552" y="2670048"/>
            <a:ext cx="2596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才打开这个技能的完整说明书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真要用时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016752" y="2670048"/>
            <a:ext cx="2596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再读里面的模板和小工具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专业名词叫「渐进式披露」：装 100 个技能，桌面也不会被挤满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Harness：AI 的身体和公司制度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Harness（运行框架）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包在 AI 外面的那层系统：组装资料、执行工具、管权限、做安全隔离、自动规则、管理记忆。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同一个 AI，放进不同的 Harness，表现差别很大。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是大脑，Harness 是身体加公司制度。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Claude Code 和 Codex，本质上就是两套 Harness。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MCP：AI 世界的通用插头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MCP（模型上下文协议）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一套开放标准，统一 AI 连接外部工具和数据的方式。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写一次接口，任何支持 MCP 的 AI 工具都能用。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 USB-C：一根线，什么设备都能插。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让 AI 直接读你的 Google 文档、日历、邮箱、GitHub。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RAG：先查资料，再回答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333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2115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115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整理资料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把手册、文档切成小段存起来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907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689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89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你提问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877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系统去找最相关的几段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81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263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63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放上桌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451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把这几段和问题一起交给 AI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837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837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有据回答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AI 基于资料回答，并注明出处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RAG = 检索增强生成。解决：知识过时、私有资料 AI 不知道、减少胡说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两种查资料的方式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建资料库检索（RAG）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提前把资料切块、建索引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适合：大量文档、客服知识库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坑：切太碎会丢意思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让 AI 自己翻文件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不提前建库，AI 自己搜、自己读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适合：项目文件、代码、笔记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Claude Code 主要用这种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Memory：让 AI 记住你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Memory（记忆）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跨对话保留信息的机制。AI 本身不记得，是系统在每次开工时把记忆文件读给它。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记忆本质上就是一堆文件——文件能丢，所以要备份（后面讲 GitHub）。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交接本：每天上班先翻一遍，知道昨天做到哪、老板说过什么。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「回复我一律用中文」「做海报前先看品牌规范」——这些都应该进记忆。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的四种记忆</a:t>
            </a:r>
            <a:endParaRPr lang="en-US" sz="2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4023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存多久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短期记忆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这次对话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聊天记录、刚查到的结果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规则记忆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永久，人来写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 AI 的员工手册（规则文件）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自动记忆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永久，AI 自己写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你纠正过它的做法、项目进展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外部知识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用到才查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资料库、文档、网页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Hooks：一定会执行的自动规则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Hooks（钩子）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在特定时刻自动执行的动作，比如每次改完文件、每次开工时，由系统执行，不靠 AI 自觉。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写在提示词里的规则，AI「可能」遵守；做成 Hook，就是「一定」执行。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公司门禁：不是靠员工自觉，刷不了卡就是进不去。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每次开工自动拉取最新记忆；禁止删除重要文件；外发前自动扫描密码。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还有三个常听到的词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Plan 模式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先让 AI 只调研、出方案，你批准后再动手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Eval 评测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用同一批样本，对比改动前后的效果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Guardrails 护栏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限制 AI 输出范围：格式、字数、禁用内容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一句话串起来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344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Skill 用工具干活，工具可以通过 MCP 接进来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562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7335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Agent 在 Harness 里跑，Harness 读记忆和规则来备资料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7802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9514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RAG 和记忆，都是往 AI 桌上放资料的方式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2916936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0175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099816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291693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工作流里可以有 Agent 节点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57200" y="3538728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363931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721608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1560" y="353872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Hook 管「一定发生」，提示词管「最好发生」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课堂练习：给你的 AI 用法分分层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3520440"/>
          </a:xfrm>
          <a:prstGeom prst="roundRect">
            <a:avLst>
              <a:gd name="adj" fmla="val 48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课堂实操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10 分钟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17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051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回想你最近一次用 AI 做的一件事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17520" y="1874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17373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写下：你给了它什么资料？它用了什么工具？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1752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4231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对照分层图，标出每样东西属于哪一层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017520" y="32461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611880" y="31089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找出一样「如果多给一点，结果会更好」的资料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03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Claude Code 上手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一个会自己动手的 AI 同事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 1 天 · 14:45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Claude Code 是什么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Claude Code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Anthropic 出品的 AI 助手。不只是聊天，它能读文件、写文件、跑工具、连网站，自己把活干完。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以前是你问它答；现在是你派活，它干完向你汇报。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从「顾问」升级成「能动手的同事」。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「把这 20 份客户反馈整理成表格，按问题类型分类，再写一页总结」——它会自己读、自己做、自己检查。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在哪里用它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桌面 App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Mac / Windows，最适合非技术同学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66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3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12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网页版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0812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claude.ai/code，在云端跑，手机也能看进度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960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752" y="137160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06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命令行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9006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开发者最常用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618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编辑器插件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2618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VS Code 等，边看边改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766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94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352" y="324612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812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GitHub 里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0812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在项目讨论区直接 @它干活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960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788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752" y="3246120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06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开发工具包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9006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用它的能力搭自己的 AI 助手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第一次上手：三步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176272" y="1737360"/>
            <a:ext cx="20482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5544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安装并登录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70048"/>
            <a:ext cx="2596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下载桌面 App 或打开网页版，用账号登录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19472" y="1737360"/>
            <a:ext cx="20482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976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选一个文件夹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273552" y="2670048"/>
            <a:ext cx="2596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让它在这个文件夹里干活（它只看得到这里）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先让它认识你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016752" y="2670048"/>
            <a:ext cx="2596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说「读一下这个文件夹，帮我写一份工作说明」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第三步会生成一份 CLAUDE.md：这就是它的员工手册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CLAUDE.md：给 AI 的员工手册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规则文件 CLAUDE.md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放在文件夹里的一份说明。每次开工，Claude Code 都会先读它。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写一次，以后每次对话都不用再重复交代。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新员工入职手册：这是什么项目、怎么做事、哪些红线不能碰。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这个文件夹是什么 / 常用的做法 / 红线（不许删客户资料）/ 做什么事先看哪个文件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自动记忆：AI 自己记的笔记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Auto Memory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Claude Code 会把你纠正过的做法、项目进展，自动写进一组记忆文件。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一份目录 + 若干主题笔记，每次开工先读目录。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助理的工作日志：你说过一次「别这样」，他记下来下次不再犯。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我们自己的 AI 记忆有 100 多份笔记，每天自动备份到 GitHub（后面讲）。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放多少权给它：权限模式</a:t>
            </a:r>
            <a:endParaRPr lang="en-US" sz="24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9260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它会怎么做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适合什么时候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改文件、做操作前都先问你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刚开始用、不熟悉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自动改文件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改文件不问，其他操作还问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日常工作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只看不改，先交方案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大改动、要先拍板的事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由安全检查判断能不能直接做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长任务、少打扰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全部放行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什么都不问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只在隔离的测试环境里用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权限规则：白名单和黑名单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可以直接做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查看文件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运行检查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整理格式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一定先问我 / 永远不许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发布到线上：先问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删除文件：先问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读取密码文件：永远不许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在 Claude Code 里用 Skill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Skills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把一套做事方法写成技能包，放在指定文件夹里，它会在合适的时候自动用。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也可以手动叫：输入 / 加技能名。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给助理一本「标准作业手册」，遇到对应的活就照手册做。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技能说明里最重要的一句：「什么时候用我」——写清楚，它才会在对的时候想起来。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子 Agent：给它配几个专员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Sub-agents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提前定义好的「专员」：审稿员、调研员、检查员，各有分工和权限。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大范围搜索交给专员，主对话保持干净。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主编 + 几个专职编辑，各管一摊。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「让审稿专员检查这篇文案有没有夸大承诺」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连接更多工具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MCP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接上 Google 文档、日历、邮箱、GitHub 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插件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把技能 + 专员 + 自动规则打包，一键安装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团队共享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统一的规范做成插件，全员一起装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管好它的「办公桌」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一事一对话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换一件事，就开一个新对话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太长就压缩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对话很长时，让它总结后继续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能接着做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可以恢复之前的对话继续干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让它自动干活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定时任务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每天早上 9 点整理昨天的数据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91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909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云端后台跑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909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关掉电脑它也在干，手机看结果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618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GitHub 里协作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618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在项目里 @它审查或修改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91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909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多个 AI 协作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909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大任务拆给多个 AI 同时做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常用命令速查（输入 / 就能看到）</a:t>
            </a:r>
            <a:endParaRPr lang="en-US" sz="24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/init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生成员工手册 CLAUDE.md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/memory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查看和编辑记忆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/permissions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设置权限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/agents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管理专员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/model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切换 AI 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/compact  /clear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压缩对话 / 清空重来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/resume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回到之前的对话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Claude Code 标准用法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3461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16914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先让它写员工手册，再自己改一遍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3830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2135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03654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3830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大事先用计划模式：先看方案，再让它动手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2504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0809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39039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2504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告诉它怎么检查：「做完自己核对一遍再交」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281178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289483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977134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281178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说具体：哪个文件、做成什么样、怎么算完成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57200" y="339852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348157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563874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1560" y="339852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方向不对马上打断，比让它做完再返工便宜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457200" y="398526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94360" y="406831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4150614"/>
            <a:ext cx="164592" cy="16459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51560" y="398526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被你纠正过的，让它记进记忆；重复的活，做成技能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现场演示：派一件完整的活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3520440"/>
          </a:xfrm>
          <a:prstGeom prst="roundRect">
            <a:avLst>
              <a:gd name="adj" fmla="val 48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课堂实操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15 分钟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17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051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打开 Claude Code，选一个装了几份文档的文件夹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17520" y="1874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17373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切到计划模式：「读这些文档，整理成一页客户常见问题，先给我方案」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1752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4231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看方案，提一处修改，批准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017520" y="32461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611880" y="31089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让它执行，并要求「做完自己检查一遍」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01752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7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11880" y="37947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最后说：「把我刚才的修改要求记进记忆」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实操 1：写一份你自己的 AI 员工手册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3520440"/>
          </a:xfrm>
          <a:prstGeom prst="roundRect">
            <a:avLst>
              <a:gd name="adj" fmla="val 48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课堂实操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25 分钟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17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051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选一件你每周都在做的工作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17520" y="1874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17373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写清：这是什么工作、交付物长什么样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1752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4231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写 3 条常用做法、3 条红线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017520" y="32461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611880" y="31089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写一张「做什么事，先看哪个文件」的小表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01752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7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11880" y="37947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让 Claude Code 帮你检查：哪里不够具体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04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Codex 与对比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OpenAI 的 AI 助手，怎么选、怎么一起用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 2 天 · 09:30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Codex 是什么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Codex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OpenAI 出品的 AI 助手，和 Claude Code 是同一类工具：能读、能写、能动手。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用 ChatGPT 账号就能登录，有桌面 App、网页版、命令行和编辑器插件。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另一家公司培养的同类型同事，能力相近，脾气不同。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网页版可以把任务丢到云端跑，跑完再把结果拉回来。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AGENTS.md：Codex 的员工手册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规则文件 AGENTS.md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作用和 CLAUDE.md 一样，每次开工先读。可以分全局、项目、子文件夹三级。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有总长度上限，超出部分会被直接截掉——再次说明：手册要短。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公司手册 + 部门手册 + 小组手册，越往下越具体。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同一个项目可以同时放 CLAUDE.md 和 AGENTS.md，两个工具都能用。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Codex 的两个安全旋钮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什么时候问你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只有安全的操作才自动做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它觉得需要时再问（默认）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从来不问（只配合隔离环境）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它能动哪里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只能看，不能改（默认）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只能改当前文件夹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不设限（只在测试环境）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推荐的组合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刚开始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只能看 + 需要时问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日常工作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能改当前文件夹 + 需要时问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测试环境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全部放开，只在隔离环境里用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Codex 常用命令</a:t>
            </a:r>
            <a:endParaRPr lang="en-US" sz="24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/init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 AGENTS.md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/plan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计划模式：先出方案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/model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选模型和思考强度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/review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让它审查改动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/permissions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设置权限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/new  /compact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开新对话 / 压缩对话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/import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 Claude Code 导入设置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Codex 标准用法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3461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16914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先写 AGENTS.md，越短越好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3830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2135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03654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3830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大任务先 /plan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2504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0809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39039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2504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日常用「能改当前文件夹 + 需要时问」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281178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289483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977134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281178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一事一对话，长了就压缩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57200" y="339852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348157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563874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1560" y="339852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做完用 /review 自查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457200" y="3985260"/>
            <a:ext cx="8229600" cy="495300"/>
          </a:xfrm>
          <a:prstGeom prst="roundRect">
            <a:avLst>
              <a:gd name="adj" fmla="val 22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94360" y="406831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4150614"/>
            <a:ext cx="164592" cy="16459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51560" y="3985260"/>
            <a:ext cx="74980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耗时长的任务丢云端，自己干别的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Claude Code 和 Codex 对照</a:t>
            </a:r>
            <a:endParaRPr lang="en-US" sz="24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出品方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Anthropic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员工手册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CLAUDE.md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AGENTS.md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有（/plan）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技能包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支持（同一种格式）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自动规则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接外部工具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云端运行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claude.ai/code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chatgpt.com/codex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学方法，不押工具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员工手册、技能包、计划模式、记忆——两个工具通用。同一个项目可以两个都用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05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让 AI 守规矩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规则与记忆的控制方法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 2 天 · 10:45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管住 AI 的四层力度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① 对话里说一句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0515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最弱：下次对话就忘了 → 适合一次性要求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38528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385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② 员工手册 / 记忆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193852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中等：太长、冲突时会被忽略 → 适合日常约定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25496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25496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254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③ 技能包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82549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较强：流程写死，照着走 → 适合固定的专业活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12464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12464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71246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④ 权限 + 自动规则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371246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最硬：系统直接拦截，AI 想违反也做不到 → 适合红线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违反一次就出事的规则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不能只写在提示词里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「不许删客户资料」→ 权限禁止；「外发前检查密码」→ 自动规则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员工手册模板（CLAUDE.md / AGENTS.md 通用）</a:t>
            </a:r>
            <a:endParaRPr lang="en-US" sz="24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这是什么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一两句话说清项目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小红书内容生产，面向小店老板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常用做法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最常做的几件事怎么做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出稿后先跑检查清单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红线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违反就返工的事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不承诺效果，不写价格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先看哪个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做什么事先打开哪个文件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写标题 → 先看标题规范.md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写好规则的 6 个原则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短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每一行都在占 AI 的注意力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66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3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12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目录 + 细节分开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0812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主手册只放一句话和链接，细节放子文件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960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752" y="137160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06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写清做到什么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9006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不写「认真核对」，写「核对哪三项」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618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指派 &gt; 禁止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2618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告诉它做什么，而不是只说别做什么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766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94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352" y="324612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812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带上原因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0812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知道为什么，遇到新情况才能判断对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960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788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752" y="3246120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06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不能打架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9006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加一条前，先查会不会和旧的冲突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指派式，比禁令式有效得多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禁令式（效果差）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「绝不要拍空镜头」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「不要写得太长」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「别用专业术语」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指派式（效果好）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「第 1 格拍店员的手，第 2 格拍产品特写」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「每条不超过 20 字」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「用顾客的话说，比如“好吃不贵”」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规则打架，AI 只能二选一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规则冲突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同一份指令里，两条规则互相矛盾。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不会报错，它会随机选一条执行，结果时好时坏。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老板说「写满一页」，经理说「不超过半页」，员工怎么写都是错。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我们踩过的坑：「每段写满」和「总字数不超过上限」同时存在，一半的任务要返工重做。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记忆的结构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2763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00584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目录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一份总目录，每次开工必读，必须短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5176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用户画像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你是谁、喜欢怎么沟通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1947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976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纠正记录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2219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你说过「下次别这样」的事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6539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4360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项目状态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6811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现在做到哪了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查询手册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常用路径、资料在哪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每份笔记开头写清「什么时候该看我」，AI 才会在对的时候翻开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管理记忆的 5 条铁律</a:t>
            </a:r>
            <a:endParaRPr lang="en-US" sz="24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023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不这样做会怎样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写新结论前，先删掉同主题的旧结论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新旧并存，AI 读到旧的就照着做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作废要写清：作废什么、为什么、正确的是什么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只写「已作废」等于留雷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会变的数字不进记忆，写「现查」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价格、上限过时了，AI 照旧值做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「没查清」不能写成「做不到」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错误结论会挡住以后的自己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自己的备注不算规矩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把随手笔记当成老板的指令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这条信息该放哪</a:t>
            </a:r>
            <a:endParaRPr lang="en-US" sz="24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206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团队共享的规矩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项目员工手册（存进 GitHub）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个人习惯，比如「回复用中文」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个人员工手册 / 个人记忆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被纠正过的做法、项目进展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自动记忆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大量资料、手册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文件夹 + 目录，或资料库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会变的数字：价格、上限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哪都不放，每次现查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真相以谁为准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线上实时数据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0515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最高：系统里此刻的真实值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38528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385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官方文档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193852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其次：技术同事或厂商的说明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25496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25496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254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记忆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82549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最低：只是线索，不是真相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行动闸门：把「要记得」变成「先交一行字」</a:t>
            </a:r>
            <a:endParaRPr lang="en-US" sz="24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什么时候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先交出什么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开口前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不可再拆的事实是什么 → 推出的做法 → 放弃了什么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动手前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我读了什么资料，现状是什么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改提示词前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改前改后的长度，是否超上限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铺开前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这次改动会影响哪些地方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修改前的效果 vs 修改后的效果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请老板拍板前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反对意见最强的版本 + 我的结论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本节小结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344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规则分四层力度，红线交给系统拦截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562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7335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手册要短、具体、指派式、带原因、不打架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7802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9514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记忆只留最新的，旧的当场删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2916936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0175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099816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291693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用「先交一行字」代替「要记得」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06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搭建 AI 工作流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把一件事拆成 AI 能稳定完成的流水线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 2 天 · 13:00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五种标准搭法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接力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上一步的结果交给下一步，比如：写剧本 → 画分镜 → 生成视频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66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3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12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分流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0812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先判断类型，再交给对应的处理方式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960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752" y="137160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06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并行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9006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几件事同时做，最后汇总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618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主管派活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2618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主 AI 动态拆任务、分给几个 AI、再汇总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766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94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352" y="324612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812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写-审循环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0812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一个写、一个审，不合格就重写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从最简单的开始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确实需要才加复杂度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大部分业务，一条「接力」流水线加一个「审核」就够了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搭工作流七步法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46781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16429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6429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定终点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做完长什么样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22438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92086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9208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678577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拆到底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706009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拆成最基本的事实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98095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67743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67743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54234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定分工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881666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每步输入、输出、边界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73752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3434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43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029891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写清楚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057323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每段指令能独立看懂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49409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19057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19057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05549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设关卡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232981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贵的步骤前先检查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5066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94714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9471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381206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留余量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08638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别贴着上限跑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70371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70371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556863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先试一条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584295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验证通过再铺开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终点要具体：不是「做个视频」，而是「15 秒竖屏、无字幕、人物和参考图一致、能直接发」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分工表：每一步只管自己那件事</a:t>
            </a:r>
            <a:endParaRPr lang="en-US" sz="24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不负责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写剧本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拍什么、说什么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产品长什么样（交给参考图）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画分镜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画得对、画得真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画面上的任何文字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生成视频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怎么动、怎么说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改剧情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关卡放在最贵的一步前面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审核关卡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在花钱最多的步骤之前，先检查上一步的结果。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分镜图不对，就别急着生成视频。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装修先看效果图，满意了再开工。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我们的长视频工作台：每个镜头先审分镜图、再审视频，哪段不满意只重做那一段。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用 AI 助手落地工作流的四种方式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对话里带着做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计划模式出方案 → 批准 → 逐步执行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91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909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做成技能包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909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流程稳定了，就固化成技能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618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分给几个专员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618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调研、执行、审查分开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91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909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定时自动跑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909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每天、每周自动执行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给 AI 派活的任务单模板</a:t>
            </a:r>
            <a:endParaRPr lang="en-US" sz="240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一句话，带可以验收的结果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背景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为什么做、相关资料在哪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给它什么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交什么：格式、文件名、语言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完成标准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怎么算做完、要做哪些检查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不许做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边界和红线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工作流检查清单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344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终点具体、可验收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39776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562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7335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每一步输入、输出、边界清楚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39776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7802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9514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每段指令能独立看懂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2916936"/>
            <a:ext cx="39776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0175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099816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291693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规则是指派式，且互不冲突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3538728"/>
            <a:ext cx="39776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363931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721608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1560" y="353872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确认了每个 AI 的长度上限，并留余量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4709160" y="1051560"/>
            <a:ext cx="39776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84632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1234440"/>
            <a:ext cx="164592" cy="16459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303520" y="105156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最贵的步骤前有检查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4709160" y="1673352"/>
            <a:ext cx="39776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84632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1856232"/>
            <a:ext cx="164592" cy="16459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303520" y="167335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失败能重试，能看到原始报错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4709160" y="2295144"/>
            <a:ext cx="39776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484632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8616" y="2478024"/>
            <a:ext cx="164592" cy="16459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303520" y="229514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先试一条，用最终成品验收</a:t>
            </a:r>
            <a:endParaRPr lang="en-US" sz="1400" dirty="0"/>
          </a:p>
        </p:txBody>
      </p:sp>
      <p:sp>
        <p:nvSpPr>
          <p:cNvPr id="35" name="Shape 25"/>
          <p:cNvSpPr/>
          <p:nvPr/>
        </p:nvSpPr>
        <p:spPr>
          <a:xfrm>
            <a:off x="4709160" y="2916936"/>
            <a:ext cx="39776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4846320" y="30175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8616" y="3099816"/>
            <a:ext cx="164592" cy="164592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5303520" y="291693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改动前列出影响范围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实操：画出你的一条工作流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3520440"/>
          </a:xfrm>
          <a:prstGeom prst="roundRect">
            <a:avLst>
              <a:gd name="adj" fmla="val 48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课堂实操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20 分钟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17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051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选一件你每周重复做的工作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17520" y="1874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17373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写出终点：做完长什么样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1752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4231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拆成 3–6 步，每步写输入、输出、不负责什么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017520" y="32461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611880" y="31089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标出最贵或最容易出错的一步，在它前面加关卡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01752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7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11880" y="37947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选一种落地方式：对话 / 技能 / 专员 / 定时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07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实战：AI 漫剧与营销短视频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一条 AI 视频是怎么生成的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 2 天 · 14:15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漫剧 / 短视频的通用生产线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4447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编剧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 写分镜脚本：画面 + 台词 + 情绪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163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860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设定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019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人物、产品、场景的参考图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879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分镜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735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 画出每个镜头的画面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595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视频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451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让每个画面动起来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311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声音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0167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配音、对白、口型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合成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883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剪辑、字幕、音乐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漫剧、AI 短剧、AI 广告片，底层都是这条线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最大的难题：一致性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同一个角色在 10 个镜头里长得一样，产品不变形，场景不穿帮。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答案：靠参考图，不靠文字描述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我们的做法：ThinkNova 视频 Agent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4859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填资料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商品名、卖点、活动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883664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167128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42032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52" y="14859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58568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传参考图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304288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人物、产品、门店（可选）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593592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877056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51960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4859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968496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编剧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014216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写好每个镜头的画面和台词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303520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5586984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61888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908" y="14859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78424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分镜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724144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按参考图画出分镜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013448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7296912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671816" y="1325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1836" y="148590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388352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成片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434072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画面动起来，人物开口说话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用户只做前两步，后面全部由 Agent 自动完成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长视频：先审后花钱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视频工作台（即将上线）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先排好镜头时间表，每个镜头先出分镜图给你审，满意再生成视频，最后自动配音、加字幕、拼接。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哪一段不满意，只重做那一段。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像拍片先过分镜稿，导演点头才开机。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对应前面讲的「把关卡放在最贵的一步前面」。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三层分工：每层只管一件事</a:t>
            </a:r>
            <a:endParaRPr lang="en-US" sz="240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  <a:gridCol w="3108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演什么：每个镜头的画面、台词、情绪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产品长什么样（它看不到参考图）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画得对、画得真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画面上的任何文字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怎么动、怎么说，和参考图保持一致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改剧情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两条铁律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每段指令都要自带全部信息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每一步的 AI 都看不到上一步的对话，不能写「参考上文」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39776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83480" y="23317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视频画面里不出现文字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30175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台词只念不画。文字一旦画进分镜，就会一路带进视频，画面变脏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编剧要当营销专家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编剧层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每写一句台词、一个画面，都站在观众角度想：看到这里，他会不会继续看？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内容质量的源头在编剧，不在画面。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广告公司的创意总监，而不是写说明书的人。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画面要为台词作证：台词说「好用」，画面就要出现正在使用的动作。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先定片型，再写剧本</a:t>
            </a:r>
            <a:endParaRPr lang="en-US" sz="2400" dirty="0"/>
          </a:p>
        </p:txBody>
      </p:sp>
      <p:graphicFrame>
        <p:nvGraphicFramePr>
          <p:cNvPr id="9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片型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什么时候用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故事型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观众还没打算买，心里有顾虑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冲突 → 加码 → 揭晓 → 转变，产品是谜底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叙事型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有人物有情绪，但不需要冲突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讲清一件事 + 一个动作作证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直给型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观众已经想买，只差信息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信息优先：价格、时间、地址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一致性：参考图三把锁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人物锁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同一张脸、同一身衣服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产品锁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产品形状、包装不变，编剧不描述产品外形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场景锁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同一家店、同一个环境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我们踩过的坑</a:t>
            </a:r>
            <a:endParaRPr lang="en-US" sz="2400" dirty="0"/>
          </a:p>
        </p:txBody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743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真正原因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换了好几个 AI，都报同一个错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指令自相矛盾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不是 AI 不行，先查自己的指令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加了一句补充说明，没用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一句话压不过多处相反的指令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找到冲突源头，别打补丁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一天加了几条规则，全挂了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指令超出了长度上限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改前改后都量长度，只减不增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改了设置，效果没变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改的地方根本没被读到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保存成功不等于生效，要看实际成品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说「全片没人物」，其实有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只看了一帧截图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视频验收要逐帧看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好的 AI 产品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让用户不用动脑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把提示词工程藏在产品里，而不是甩给用户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小生意老板做营销内容的难处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不会拍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没有设备，也没有时间拍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不会剪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剪辑软件学不会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不会写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不知道怎么写才吸引人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请人太贵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外包一条视频的钱，够做几十条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ThinkNova：给小生意做营销视频和海报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160020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实体店老板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024128"/>
            <a:ext cx="160020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网店卖家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024128"/>
            <a:ext cx="160020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靠服务赚钱的人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2971800"/>
          </a:xfrm>
          <a:prstGeom prst="roundRect">
            <a:avLst>
              <a:gd name="adj" fmla="val 36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288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写几句话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或传一张产品图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15 秒营销视频 / 海报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自动生成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3490" y="190881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937760" y="2377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不用拍，不用剪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766560" y="160020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494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70" y="190881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949440" y="2377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卖什么都能用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754880" y="3127248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937760" y="331012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490" y="3435858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937760" y="3904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有新手引导和教程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766560" y="3127248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49440" y="33101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170" y="3435858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49440" y="3904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注册送体验积分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现在就试试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thinknova.top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3774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5374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第 1 步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打开官网，免费注册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054096" y="3154680"/>
            <a:ext cx="20116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91840" y="210312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51960" y="23774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5374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29184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第 2 步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选一个场景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888736" y="3154680"/>
            <a:ext cx="20116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126480" y="210312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86600" y="2377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25374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2648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第 3 步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写几句话或传图，点生成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积分与活动以官网当天为准 · AI 生成内容请按平台规则标注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实操 2：写一份 5 格分镜脚本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3520440"/>
          </a:xfrm>
          <a:prstGeom prst="roundRect">
            <a:avLst>
              <a:gd name="adj" fmla="val 48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课堂实操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25 分钟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17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051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选一个你熟悉的商品，先定片型：故事型 / 叙事型 / 直给型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17520" y="1874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17373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写 5 格：每格写画面 + 台词 + 情绪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1752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4231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自查：画面有没有为台词作证？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017520" y="32461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611880" y="31089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自查：有没有描述产品外形？（应该交给参考图）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01752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7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11880" y="37947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自查：画面里有没有安排文字？（视频不该有）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08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记得提交到 GitHub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让 AI 的记忆和你的成果永不丢失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 2 天 · 16:00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的记忆存在哪？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电脑坏了会不会丢？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记忆、员工手册、技能包、做好的方案——其实都是文件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GitHub：云端保险柜 + 时光机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GitHub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全球最大的文件托管平台。把你的文件夹存到云端，每次修改都留一个版本。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换电脑、换同事、开新对话，都能把同一份记忆拉回来。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云端保险柜加时光机：东西不会丢，还能回到任何一个过去的版本。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不需要会写代码。只要对 AI 说一句话就行。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GitHub 帮你管理 AI 的记忆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17370" cy="23317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5845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865" y="14859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1634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干活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560320"/>
            <a:ext cx="1543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更新记忆、手册、成果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311146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94610" y="1097280"/>
            <a:ext cx="1817370" cy="23317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83255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275" y="14859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86050" y="2103120"/>
            <a:ext cx="1634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提交到 GitHub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731770" y="2560320"/>
            <a:ext cx="1543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一句话让 AI 帮你存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448556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732020" y="1097280"/>
            <a:ext cx="1817370" cy="23317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20665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685" y="14859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23460" y="2103120"/>
            <a:ext cx="1634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每次都有版本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869180" y="2560320"/>
            <a:ext cx="1543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改错了能退回去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585966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869430" y="1097280"/>
            <a:ext cx="1817370" cy="23317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58075" y="1325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095" y="14859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60870" y="2103120"/>
            <a:ext cx="1634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随时拉回来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006590" y="2560320"/>
            <a:ext cx="1543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新电脑、新对话、新同事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越用越懂你，靠的就是这份不断积累、从不丢失的记忆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三个好处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不丢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电脑坏了、文件删了，云端都有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能退回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改坏了，一键回到昨天的版本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能共享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团队用同一份规矩和记忆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「帮我把今天的改动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提交到 GitHub」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这一句话就够了。Claude Code 和 Codex 都会帮你完成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三个好习惯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344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每天收工前，让 AI 提交一次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562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7335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仓库设成「私有」，只有你和团队能看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7802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9514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密码、密钥不要放进文件里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我们自己就是这么做的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我们的 AI 记忆库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100 多份 AI 记忆笔记，每天自动备份到 GitHub 私有仓库。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任何一台电脑、任何一个新对话，开工第一件事就是拉取最新记忆。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整个团队共用一本永远最新的交接本。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今天这份课件，也是 AI 写完后直接提交到 GitHub 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09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总结与结业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带走就能用的方法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 2 天 · 16:30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标准工作法：七步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46781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16429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6429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定终点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做完长什么样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22438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92086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9208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678577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读现状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706009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手册 → 记忆 → 真实数据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98095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67743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67743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54234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出方案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881666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大事用计划模式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73752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3434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43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029891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小步做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057323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改一处，验一处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49409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19057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19057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05549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看成品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232981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用最终结果验收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5066" y="1691640"/>
            <a:ext cx="572153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94714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9471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381206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汇报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08638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验了什么、做了什么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70371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70371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556863" y="2103120"/>
            <a:ext cx="1084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沉淀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584295" y="2578608"/>
            <a:ext cx="102935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记进记忆，存到 GitHub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Claude Code、Codex、任何 AI 工具都适用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最常见的坑</a:t>
            </a:r>
            <a:endParaRPr lang="en-US" sz="2400" dirty="0"/>
          </a:p>
        </p:txBody>
      </p:sp>
      <p:graphicFrame>
        <p:nvGraphicFramePr>
          <p:cNvPr id="1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正确做法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「帮我优化一下」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说清楚哪个文件、做成什么样、怎么算完成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一个对话干一整天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一事一对话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手册越写越长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目录 + 细节分开，定期瘦身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只写「不许」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写「要做什么」，再加替代做法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说「改好了」就当完成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看真实成品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一出错就换 AI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先分层排查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安全清单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344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密码、密钥不写进指令、手册和记忆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562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7335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「全部放行」只在隔离的测试环境用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7802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9514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删除、发布、改线上设置：设为必须先问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2916936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0175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099816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291693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有风险的操作先演练一次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57200" y="3538728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363931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721608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1560" y="353872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GitHub 仓库设为私有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结业小测（答案在课件里都能找到）</a:t>
            </a:r>
            <a:endParaRPr lang="en-US" sz="2400" dirty="0"/>
          </a:p>
        </p:txBody>
      </p:sp>
      <p:graphicFrame>
        <p:nvGraphicFramePr>
          <p:cNvPr id="1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680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和工作流的区别是什么？各举一个例子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为什么可以给 AI 装上百个技能，却不会把它的桌面挤满？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为什么「不许删客户资料」不能只写在提示词里？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换了三个 AI 都报同一个错，你第一步查什么？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视频里人物前后长得不一样，该怎么解决？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的记忆存在哪？怎么保证它不丢？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回去第一周，做这四件事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装一个工具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Claude Code 或 Codex，先用桌面 App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写一份手册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给你最常做的一件工作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沉淀一个技能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把重复的活变成标准流程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提交到 GitHub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每天收工前说一句话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谢谢！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答疑时间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thinknova.top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inkNova AI Course">
  <a:themeElements>
    <a:clrScheme name="ThinkNova AI Course">
      <a:dk1>
        <a:srgbClr val="1C1D3A"/>
      </a:dk1>
      <a:lt1>
        <a:srgbClr val="FFFFFF"/>
      </a:lt1>
      <a:dk2>
        <a:srgbClr val="4A4E73"/>
      </a:dk2>
      <a:lt2>
        <a:srgbClr val="F1F0FA"/>
      </a:lt2>
      <a:accent1>
        <a:srgbClr val="FF6A3D"/>
      </a:accent1>
      <a:accent2>
        <a:srgbClr val="5048E5"/>
      </a:accent2>
      <a:accent3>
        <a:srgbClr val="12A594"/>
      </a:accent3>
      <a:accent4>
        <a:srgbClr val="F2B33D"/>
      </a:accent4>
      <a:accent5>
        <a:srgbClr val="B9B6E8"/>
      </a:accent5>
      <a:accent6>
        <a:srgbClr val="E5484D"/>
      </a:accent6>
      <a:hlink>
        <a:srgbClr val="5048E5"/>
      </a:hlink>
      <a:folHlink>
        <a:srgbClr val="8A84E8"/>
      </a:folHlink>
    </a:clrScheme>
    <a:fontScheme name="ThinkNova AI Cours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116</Slides>
  <Notes>116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</vt:vector>
  </TitlesOfParts>
  <Company>ThinkNova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实战课（2 天完整版）</dc:title>
  <dc:subject>PptxGenJS Presentation</dc:subject>
  <dc:creator>ThinkNova</dc:creator>
  <cp:lastModifiedBy>ThinkNova</cp:lastModifiedBy>
  <cp:revision>1</cp:revision>
  <dcterms:created xsi:type="dcterms:W3CDTF">2026-10-07T17:23:21Z</dcterms:created>
  <dcterms:modified xsi:type="dcterms:W3CDTF">2026-10-07T17:23:21Z</dcterms:modified>
</cp:coreProperties>
</file>