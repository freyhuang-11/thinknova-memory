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0d571251-b52f-32a2-42f7-20eb0501e384}">
          <p14:sldIdLst>
            <p14:sldId id="256"/>
            <p14:sldId id="257"/>
          </p14:sldIdLst>
        </p14:section>
        <p14:section name="AI 到底是什么" id="{ad5c5497-0090-77c2-e678-31d1040cbaeb}">
          <p14:sldIdLst>
            <p14:sldId id="258"/>
            <p14:sldId id="259"/>
            <p14:sldId id="260"/>
          </p14:sldIdLst>
        </p14:section>
        <p14:section name="怎么跟 AI 说话" id="{80a101a0-ef4f-8edf-68ae-a8bd1d9cc65b}">
          <p14:sldIdLst>
            <p14:sldId id="261"/>
            <p14:sldId id="262"/>
          </p14:sldIdLst>
        </p14:section>
        <p14:section name="常听到的几个词，一次讲清" id="{693ea57b-e7db-0729-0c93-4c524facf1b8}">
          <p14:sldIdLst>
            <p14:sldId id="263"/>
            <p14:sldId id="264"/>
            <p14:sldId id="265"/>
          </p14:sldIdLst>
        </p14:section>
        <p14:section name="Claude Code 上手" id="{a9c7b2ef-5536-8c35-82ba-ffb7908ed784}">
          <p14:sldIdLst>
            <p14:sldId id="266"/>
            <p14:sldId id="267"/>
          </p14:sldIdLst>
        </p14:section>
        <p14:section name="Codex，以及怎么选" id="{574f2a36-7ffa-06bd-38fc-49d42472807f}">
          <p14:sldIdLst>
            <p14:sldId id="268"/>
          </p14:sldIdLst>
        </p14:section>
        <p14:section name="让 AI 守规矩" id="{67125025-294a-c641-86e4-585dc73cba2f}">
          <p14:sldIdLst>
            <p14:sldId id="269"/>
            <p14:sldId id="270"/>
          </p14:sldIdLst>
        </p14:section>
        <p14:section name="让 AI 按流程干活" id="{16c2393e-c2ae-ebdd-4301-dd7c86083d2b}">
          <p14:sldIdLst/>
        </p14:section>
        <p14:section name="AI 视频是怎么做出来的" id="{c4a5fd04-710c-e8e9-451d-775431b93a56}">
          <p14:sldIdLst>
            <p14:sldId id="271"/>
            <p14:sldId id="272"/>
          </p14:sldIdLst>
        </p14:section>
        <p14:section name="记得提交到 GitHub" id="{2e1a871c-9053-203c-6c70-68536a0c6537}">
          <p14:sldIdLst>
            <p14:sldId id="273"/>
          </p14:sldIdLst>
        </p14:section>
        <p14:section name="总结" id="{2b9fb874-5899-f7ba-b24e-49f1aed550c9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封面。先简单自我介绍：我们是谁（ThinkNova，做 AI 营销视频的团队），为什么讲这堂课（我们每天都在用 AI 干活，踩过很多坑）。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先问大家一个问题：你现在用 AI 主要做什么？大部分人的答案是「问问题」，把它当成一个更聪明的搜索框。今天我们要升级一下：把 AI 当成一个可以派活的助手。会用的人，一个人就像带了一个团队。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我们常说的 AI，比如 ChatGPT、Claude，背后都是一个「大模型」。它的本事是：读过海量的文字，学会了接话。你给它一句话，它就接出最合适的下一段。所以它回答得好不好，很大程度上取决于你给了它多少信息。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了解 AI 的四个脾气，用起来就不会生气。第一，它天生没记忆，每个新对话都是第一次见你。第二，它一次能看的东西有限，你一下子丢给它一百页，它会漏。第三，同样的问题问两次答案不一样，这是正常的。第四，最重要：它不知道的事也会编得像真的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现在的 AI 已经从「会聊天」进化到「会干活」。以前你问它怎么做表格，它告诉你步骤，你自己去做；现在你说「帮我把这些订单整理成表格」，它自己打开文件、自己做好、交给你。今天后面讲的 Claude Code、Codex 就是这种会干活的 AI。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好提示词有四个要素。第一，告诉它它是谁，它会换成那个身份的口吻。第二，要做什么，越具体越好。第三，有什么要求：字数、语气、格式。第四，给个例子，这一条效果最好——你喜欢哪条文案，直接贴给它，它会学那个感觉。四个要素不一定每次都要齐，但越齐，结果越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看这个例子。左边只说了「帮我回差评」，AI 不知道发生了什么，只能写一堆客套话。右边把情况、要做的事、字数、语气都说清楚了，出来的结果基本可以直接发。多花 30 秒把话说清楚，能省掉后面来回改的时间。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这三个词最容易搞混，我们用一个公式讲清楚。模型，就是 AI 的大脑，会思考、会说话，但它没有手脚，自己什么也做不了。Harness，就是给大脑配上的身体和规矩：能打开文件、能上网、能用各种工具，同时还有规矩限制它不能乱来。大脑装进这个身体，接到任务开始干活，就成了 Agent，也就是一个能干活的员工。所以：Agent = 模型 + Harness。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再换一个更熟悉的比喻：开车。司机的脑子就是模型，会认路、会判断。汽车加上交通规则就是 Harness：方向盘、油门刹车让司机能开动，安全带和限速保证安全。司机开着车把你送到目的地，这一整趟服务就是 Agent。如果只有司机没有车，他只能在电话里告诉你路怎么走——这就是普通的聊天 AI。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这一页把常听到的词放在一起，逐个用一句话讲。工作流就是流水线，步骤提前定好。技能包像店里的标准作业卡，教一次，以后照着做。MCP 是万能插头，让 AI 连上你的文档、日历、邮箱。RAG 是开卷考试，先翻你给的资料再回答，就不容易乱编。记忆就是交接本，重要的事写下来，每次开工先读。计划模式就是先看设计图：AI 先说打算，你点头再做，重要的事一律先看方案。建议大家拍照留着。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Claude Code 是 Anthropic 公司做的，名字里有 Code，但不是只给程序员用的。它最大的特点是能动手：你给它一个文件夹，它可以自己打开里面的文件、整理、写新文件。按刚才的公式，它就是一套 Harness，装上 Claude 这个大脑、接到你的任务，就是一个 Agent。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第一次用分四步。下载安装、登录。选一个文件夹，它只能看到这个文件夹里的东西，所以很安全。然后让它先了解情况，写一份说明。最后派第一个活，建议从小事开始，先建立信任。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两个对比一下，会发现几乎一样，最大的区别是员工手册的名字不一样：一个叫 CLAUDE.md，一个叫 AGENTS.md。同一个文件夹里两个都放上，两个工具就都能用。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这是我们自己验证过很多次的经验：只告诉 AI「别做什么」，效果很差；直接告诉它「做什么」，效果好得多。同一个要求，我们只是把「别做」改成「做什么」，结果从全部失败变成全部成功。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员工手册的模板，四部分：这是什么、常用做法、红线、做什么事先看哪份资料，一页以内。再送大家三个习惯：一件事开一个对话；告诉它怎么算做完，比如「做完自己检查一遍」；你纠正过的事，让它记进记忆。最后提醒一句：后果严重的规矩，比如不许删客户资料，要在权限里直接禁止，不能只靠写在手册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现在很火的 AI 漫剧、AI 短视频，背后都是一条生产线：写剧本、定角色、画分镜、让画面动起来、配声音、剪成片。最大的难题是前后不一样：用文字写「穿红衣服的女孩」，每个镜头都是不同的女孩。解决办法是给 AI 看照片，也就是参考图，人物、产品、店面各一张。这是我们 ThinkNova 的做法：用户只做两件事，填几句资料、传几张照片，后面写剧本、画分镜、生成视频，全部由 Agent 自动完成。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ThinkNova 就是为这些问题做的：给小生意做营销视频和海报的工具。写几句话或者传一张产品图，就能生成 15 秒的营销视频或海报，不用拍不用剪。实体店、网店、做服务的都能用。注册送体验积分，具体以官网当天为准。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前面说过，AI 的记忆、员工手册、技能包其实都是文件，文件会丢。GitHub 是全球最大的文件存放网站，像云端保险柜加时光机：东西不会丢，改坏了还能回到以前的存档。不用会写代码，每天收工前对 AI 说一句：「帮我把今天的改动存到 GitHub」就行。记住两点：仓库一定设成「私有」；密码、银行卡这类信息不要放进文件。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回去第一周，就做这四件事：装一个工具、写一份员工手册、做一个技能包、每天存到 GitHub。做完这四件，你就已经超过大部分 AI 使用者了。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谢谢大家！现在是答疑时间。也可以现场打开 thinknova.top 注册，试着做一条视频。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7731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AI 实战课 · ThinkNova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58521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745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N_STATEM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实战课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46888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Claude Code × Codex × AI 视频生成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463040" cy="384048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精华版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主办 · ThinkNova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309360" y="640080"/>
            <a:ext cx="3291840" cy="3291840"/>
          </a:xfrm>
          <a:prstGeom prst="ellipse">
            <a:avLst/>
          </a:prstGeom>
          <a:solidFill>
            <a:schemeClr val="accent2">
              <a:alpha val="80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0" y="2743200"/>
            <a:ext cx="2011680" cy="2011680"/>
          </a:xfrm>
          <a:prstGeom prst="ellipse">
            <a:avLst/>
          </a:prstGeom>
          <a:solidFill>
            <a:schemeClr val="accent1">
              <a:alpha val="90000"/>
            </a:schemeClr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128016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AI 不是搜索框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是一个可以派活的助手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这堂课的目标：从「问 AI 问题」，变成「让 AI 帮你干活」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是怎么回答你的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大模型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它读过海量的文字，学会了「接着往下说」。你说一句，它就接出最合适的下一段。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它不是上网搜答案，也不是真的有想法，而是特别会「接话」。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像一个读过几百万本书的实习生：知道得很多，但你不说清楚，他只能靠猜。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你说「帮我写个开业文案」，它会写；你再告诉它店名、地址、优惠，它写得就准多了。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AI 的 4 个「脾气」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天生没记忆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每开一个新对话，它都不记得上次聊过什么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909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一次能看的有限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909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资料太多太长，它会漏看、会忘掉前面的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每次答得不一样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618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同一个问题问两次，答案不同是正常的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909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会一本正经地编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909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不知道的事，它也会说得像真的一样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从「聊天」到「干活」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会聊天的 AI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你问，它答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只能给你建议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活还得你自己干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会干活的 AI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你派活，它去做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能自己打开文件、上网查、写文件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做完向你汇报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好提示词的四个要素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5272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① 它是谁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「你是一个做了十年餐饮营销的文案」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86300" y="105156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69180" y="125272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2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90972" y="125272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② 要做什么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490972" y="178308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「帮我写 3 条新品上市的朋友圈文案」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3127248"/>
            <a:ext cx="475488" cy="47548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246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618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③ 有什么要求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618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「每条 50 字以内，语气轻松，带一个表情」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4686300" y="2926080"/>
            <a:ext cx="400050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869180" y="3127248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8052" y="3246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490972" y="3127248"/>
            <a:ext cx="30403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④ 给个样子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490972" y="3657600"/>
            <a:ext cx="30403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「参考这条的风格：……」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同一件事，两种问法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说得笼统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「帮我回一下这条差评」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结果：一堆客套话，没有重点，不能直接用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说得清楚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「我们是社区面包店，这位客人收到的口味发错了。帮我写一条回复：先道歉，说明下次怎么避免，送一张 9 折券，100 字以内，语气真诚」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结果：基本可以直接发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最容易搞混的三个词：一个公式讲清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62456" y="123444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399032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模型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= 大脑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会思考、会说话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但没有手脚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926080" y="198882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+</a:t>
            </a:r>
            <a:endParaRPr lang="en-US" sz="3200" dirty="0"/>
          </a:p>
        </p:txBody>
      </p:sp>
      <p:sp>
        <p:nvSpPr>
          <p:cNvPr id="10" name="Shape 7"/>
          <p:cNvSpPr/>
          <p:nvPr/>
        </p:nvSpPr>
        <p:spPr>
          <a:xfrm>
            <a:off x="3337560" y="105156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42816" y="1234440"/>
            <a:ext cx="658368" cy="6583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39903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2900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Harness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342900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= 身体 + 规矩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347472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手脚、工具箱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还有不许乱来的规定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806440" y="198882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=</a:t>
            </a:r>
            <a:endParaRPr lang="en-US" sz="3200" dirty="0"/>
          </a:p>
        </p:txBody>
      </p:sp>
      <p:sp>
        <p:nvSpPr>
          <p:cNvPr id="17" name="Shape 13"/>
          <p:cNvSpPr/>
          <p:nvPr/>
        </p:nvSpPr>
        <p:spPr>
          <a:xfrm>
            <a:off x="6217920" y="1051560"/>
            <a:ext cx="2468880" cy="251460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123176" y="1234440"/>
            <a:ext cx="658368" cy="65836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7768" y="1399032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309360" y="1965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Agent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6309360" y="237744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= 能干活的员工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635508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自己想、自己做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把事情干完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457200" y="374904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" y="374904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Agent（智能体）= 模型（大脑）+ Harness（装备和规矩）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用「开车」来理解</a:t>
            </a:r>
            <a:endParaRPr lang="en-US" sz="2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017520"/>
                <a:gridCol w="3657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开车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司机：会认路、会判断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模型：Claude、GPT 这些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车和交规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方向盘、油门刹车、导航、安全带、限速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Harness：让 AI 能动手用工具，同时限制它不能乱来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整趟服务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把你安全送到目的地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Agent：接到你的活，自己一步步做完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只有司机、没有车 = 只能告诉你路怎么走。这就是普通的聊天 AI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一页总结：这些词像什么</a:t>
            </a:r>
            <a:endParaRPr lang="en-US" sz="2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4206240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一句话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大脑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会思考、会说话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Harness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身体和规矩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 AI 能动手，又不乱来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能干活的员工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自己想、自己做、做完汇报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流水线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步骤提前定好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Skill 技能包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标准作业卡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教一次，以后照着做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MCP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万能插头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 AI 连上各种软件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RAG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开卷考试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先翻资料，再回答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交接本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重要的事写下来，每次先读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计划模式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先看设计图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先给方案，点头再做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Claude Code 是什么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Claude Code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0876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Anthropic 公司做的 AI 助手软件。它不只会聊天，还能打开你电脑里的文件、整理资料、写文档、上网查东西。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大白话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35808"/>
            <a:ext cx="4343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以前是「你问它答」，现在是「你派活，它干完向你汇报」。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74920" y="1005840"/>
            <a:ext cx="3611880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3035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325880"/>
            <a:ext cx="274320" cy="27432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1887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打个比方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187452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从「电话里的顾问」，变成「坐在你旁边、能动手的助理」。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例子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338328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「把这个文件夹里 20 份客户反馈整理成一张表，按问题分类，再写一页总结」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第一次使用：四步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8333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12115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115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下载登录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官网下载桌面 App，用账号登录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8907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689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89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选一个文件夹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5877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它只能看到你给它的这个文件夹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48172" y="1737360"/>
            <a:ext cx="1362456" cy="0"/>
          </a:xfrm>
          <a:prstGeom prst="line">
            <a:avLst/>
          </a:prstGeom>
          <a:noFill/>
          <a:ln w="22225">
            <a:solidFill>
              <a:srgbClr val="B9B6E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326380" y="14630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63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6177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让它了解情况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451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「看看这里有什么，帮我写一份说明」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83780" y="1463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837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219456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派第一个活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702552" y="2670048"/>
            <a:ext cx="191109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从小事开始，比如整理一份文件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79476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79476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第三步写出来的说明，就是它的「员工手册」，文件名叫 CLAUDE.md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Claude Code 和 Codex，对比一下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Code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Codex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谁做的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Anthropic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OpenAI（做 ChatGPT 的公司）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用什么账号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账号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 账号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员工手册叫什么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CLAUDE.md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AGENTS.md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先给方案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技能包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支持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网页版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claude.ai/code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chatgpt.com/codex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告诉它「做什么」，比「别做什么」有用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258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467612"/>
            <a:ext cx="283464" cy="2834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只说「别做」（效果差）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「别写得太长」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「别用专业词」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「别拍空镜头」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34747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983480" y="132588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467612"/>
            <a:ext cx="283464" cy="283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13258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直接说「做什么」（效果好）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983480" y="2148840"/>
            <a:ext cx="3429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「每条不超过 50 字」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「用客人的话说，比如“好吃不贵”」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「第 1 个镜头拍店员的手，第 2 个拍产品特写」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员工手册模板</a:t>
            </a:r>
            <a:endParaRPr lang="en-US" sz="2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6576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这是什么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一两句话说清楚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社区烘焙店的小红书内容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常用做法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最常做的几件事怎么做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写完文案，先自己检查一遍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红线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绝对不能做的事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不承诺效果，不乱报价格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先看哪个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做什么事先看哪份资料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写价格 → 先看价目表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我们的做法：ThinkNova 视频 Agent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32104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14859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填资料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商品名、卖点、活动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883664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167128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42032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052" y="14859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58568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传照片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304288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人物、产品、店面（可选）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593592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3877056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251960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48590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968496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编剧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014216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写好每个镜头的画面和台词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5303520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5586984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961888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908" y="148590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678424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画分镜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724144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照着照片画出画面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013448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7296912" y="1097280"/>
            <a:ext cx="1389888" cy="2331720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7671816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1836" y="1485900"/>
            <a:ext cx="320040" cy="32004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388352" y="2103120"/>
            <a:ext cx="120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成片</a:t>
            </a:r>
            <a:endParaRPr lang="en-US" sz="1500" dirty="0"/>
          </a:p>
        </p:txBody>
      </p:sp>
      <p:sp>
        <p:nvSpPr>
          <p:cNvPr id="31" name="Text 24"/>
          <p:cNvSpPr txBox="1"/>
          <p:nvPr/>
        </p:nvSpPr>
        <p:spPr>
          <a:xfrm>
            <a:off x="7434072" y="2560320"/>
            <a:ext cx="111556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画面动起来，人物开口说话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457200" y="370332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685800" y="37033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用户只做前两步，后面全部由 Agent 自动完成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ThinkNova：给小生意做营销视频和海报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24128"/>
            <a:ext cx="1600200" cy="36576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实体店老板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2194560" y="1024128"/>
            <a:ext cx="1600200" cy="36576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网店卖家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931920" y="1024128"/>
            <a:ext cx="1600200" cy="36576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靠服务赚钱的人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4023360" cy="2971800"/>
          </a:xfrm>
          <a:prstGeom prst="roundRect">
            <a:avLst>
              <a:gd name="adj" fmla="val 369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288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写几句话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或传一张产品图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175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15 秒营销视频 / 海报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自动生成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754880" y="1600200"/>
            <a:ext cx="1874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937760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3490" y="1908810"/>
            <a:ext cx="251460" cy="2514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937760" y="23774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不用拍，不用剪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766560" y="1600200"/>
            <a:ext cx="1874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9494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5170" y="1908810"/>
            <a:ext cx="251460" cy="25146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37744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卖什么都能用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4754880" y="3127248"/>
            <a:ext cx="1874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937760" y="3310128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3490" y="3435858"/>
            <a:ext cx="251460" cy="25146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937760" y="3904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有新手引导和教程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766560" y="3127248"/>
            <a:ext cx="187452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949440" y="331012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170" y="3435858"/>
            <a:ext cx="251460" cy="2514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9440" y="390448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注册送体验积分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GitHub 帮你管住 AI 的记忆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17370" cy="2331720"/>
          </a:xfrm>
          <a:prstGeom prst="roundRect">
            <a:avLst>
              <a:gd name="adj" fmla="val 6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5845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5865" y="14859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03120"/>
            <a:ext cx="16344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 干活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560320"/>
            <a:ext cx="1543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更新记忆、手册、成果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311146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594610" y="1097280"/>
            <a:ext cx="1817370" cy="2331720"/>
          </a:xfrm>
          <a:prstGeom prst="roundRect">
            <a:avLst>
              <a:gd name="adj" fmla="val 6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183255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275" y="148590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86050" y="2103120"/>
            <a:ext cx="16344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存到 GitHub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2731770" y="2560320"/>
            <a:ext cx="1543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说一句话，AI 帮你存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448556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732020" y="1097280"/>
            <a:ext cx="1817370" cy="2331720"/>
          </a:xfrm>
          <a:prstGeom prst="roundRect">
            <a:avLst>
              <a:gd name="adj" fmla="val 6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320665" y="132588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0685" y="148590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23460" y="2103120"/>
            <a:ext cx="16344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每次都有存档</a:t>
            </a:r>
            <a:endParaRPr lang="en-US" sz="1500" dirty="0"/>
          </a:p>
        </p:txBody>
      </p:sp>
      <p:sp>
        <p:nvSpPr>
          <p:cNvPr id="19" name="Text 14"/>
          <p:cNvSpPr txBox="1"/>
          <p:nvPr/>
        </p:nvSpPr>
        <p:spPr>
          <a:xfrm>
            <a:off x="4869180" y="2560320"/>
            <a:ext cx="1543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改错了能退回去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585966" y="2263140"/>
            <a:ext cx="246888" cy="0"/>
          </a:xfrm>
          <a:prstGeom prst="line">
            <a:avLst/>
          </a:prstGeom>
          <a:noFill/>
          <a:ln w="25400">
            <a:solidFill>
              <a:srgbClr val="5048E5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6869430" y="1097280"/>
            <a:ext cx="1817370" cy="2331720"/>
          </a:xfrm>
          <a:prstGeom prst="roundRect">
            <a:avLst>
              <a:gd name="adj" fmla="val 60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458075" y="13258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8095" y="148590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60870" y="2103120"/>
            <a:ext cx="16344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随时拿回来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006590" y="2560320"/>
            <a:ext cx="15430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换电脑、换同事都能用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3703320"/>
            <a:ext cx="8229600" cy="777240"/>
          </a:xfrm>
          <a:prstGeom prst="roundRect">
            <a:avLst>
              <a:gd name="adj" fmla="val 1411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85800" y="37033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每天收工说一句：「帮我把今天的改动存到 GitHub」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回去第一周，做这四件事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6687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装一个工具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Claude Code 或 Codex 的桌面 App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258318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85750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6687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5750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写一份手册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285750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给你最常做的一件工作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70916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83480" y="150876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16687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98348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做一个技能包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498348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把重复的活变成固定流程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835140" y="1234440"/>
            <a:ext cx="1851660" cy="2743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09460" y="15087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66878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09460" y="2331720"/>
            <a:ext cx="13030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存到 GitHub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109460" y="3017520"/>
            <a:ext cx="13030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每天收工前说一句话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914400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谢谢！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答疑时间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461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thinknova.top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inkNova AI Course">
  <a:themeElements>
    <a:clrScheme name="ThinkNova AI Course">
      <a:dk1>
        <a:srgbClr val="1C1D3A"/>
      </a:dk1>
      <a:lt1>
        <a:srgbClr val="FFFFFF"/>
      </a:lt1>
      <a:dk2>
        <a:srgbClr val="4A4E73"/>
      </a:dk2>
      <a:lt2>
        <a:srgbClr val="F1F0FA"/>
      </a:lt2>
      <a:accent1>
        <a:srgbClr val="FF6A3D"/>
      </a:accent1>
      <a:accent2>
        <a:srgbClr val="5048E5"/>
      </a:accent2>
      <a:accent3>
        <a:srgbClr val="12A594"/>
      </a:accent3>
      <a:accent4>
        <a:srgbClr val="F2B33D"/>
      </a:accent4>
      <a:accent5>
        <a:srgbClr val="B9B6E8"/>
      </a:accent5>
      <a:accent6>
        <a:srgbClr val="E5484D"/>
      </a:accent6>
      <a:hlink>
        <a:srgbClr val="5048E5"/>
      </a:hlink>
      <a:folHlink>
        <a:srgbClr val="8A84E8"/>
      </a:folHlink>
    </a:clrScheme>
    <a:fontScheme name="ThinkNova AI Cours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ThinkNova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实战课（精华版）</dc:title>
  <dc:subject>PptxGenJS Presentation</dc:subject>
  <dc:creator>ThinkNova</dc:creator>
  <cp:lastModifiedBy>ThinkNova</cp:lastModifiedBy>
  <cp:revision>1</cp:revision>
  <dcterms:created xsi:type="dcterms:W3CDTF">2026-10-09T08:37:26Z</dcterms:created>
  <dcterms:modified xsi:type="dcterms:W3CDTF">2026-10-09T08:37:26Z</dcterms:modified>
</cp:coreProperties>
</file>