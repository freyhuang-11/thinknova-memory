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</p:sldIdLst>
  <p:notesMasterIdLst>
    <p:notesMasterId r:id="rId10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" id="{183f4ca9-9977-d9fb-7992-440e42715192}">
          <p14:sldIdLst>
            <p14:sldId id="256"/>
            <p14:sldId id="257"/>
            <p14:sldId id="258"/>
            <p14:sldId id="259"/>
          </p14:sldIdLst>
        </p14:section>
        <p14:section name="AI 到底是什么" id="{8749caed-a405-b790-aef4-e40adbe57221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怎么跟 AI 说话" id="{92c98db9-7433-29e6-6b5a-32a391acab22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常听到的几个词，一次讲清" id="{fdd06c94-215b-8ad9-b20d-d120458e9868}">
          <p14:sldIdLst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</p14:sldIdLst>
        </p14:section>
        <p14:section name="Claude Code 上手" id="{5647ec5d-286c-06b6-8259-4a9f681e5050}">
          <p14:sldIdLst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</p14:sldIdLst>
        </p14:section>
        <p14:section name="Codex，以及怎么选" id="{95a03e64-bb1a-2a36-5777-35d8599e6541}">
          <p14:sldIdLst>
            <p14:sldId id="305"/>
            <p14:sldId id="306"/>
            <p14:sldId id="307"/>
            <p14:sldId id="308"/>
            <p14:sldId id="309"/>
          </p14:sldIdLst>
        </p14:section>
        <p14:section name="让 AI 守规矩" id="{53cc4270-ba73-a141-4e3a-c376296543c6}">
          <p14:sldIdLst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</p14:sldIdLst>
        </p14:section>
        <p14:section name="让 AI 按流程干活" id="{385eeea2-669d-e3d1-d600-d353104e7046}">
          <p14:sldIdLst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</p14:sldIdLst>
        </p14:section>
        <p14:section name="AI 视频是怎么做出来的" id="{486bda04-f2a6-b59b-9e2a-24484a814bc8}">
          <p14:sldIdLst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</p14:sldIdLst>
        </p14:section>
        <p14:section name="记得提交到 GitHub" id="{33f36dfd-540c-b3a1-c177-ca74f932a353}">
          <p14:sldIdLst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</p14:sldIdLst>
        </p14:section>
        <p14:section name="总结" id="{5dba25bd-0986-e095-9f20-feb1bd7703d3}">
          <p14:sldIdLst>
            <p14:sldId id="349"/>
            <p14:sldId id="350"/>
            <p14:sldId id="351"/>
            <p14:sldId id="352"/>
            <p14:sldId id="353"/>
            <p14:sldId id="354"/>
            <p14:sldId id="35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notesMaster" Target="notesMasters/notesMaster1.xml"/><Relationship Id="rId103" Type="http://schemas.openxmlformats.org/officeDocument/2006/relationships/presProps" Target="presProps.xml"/><Relationship Id="rId104" Type="http://schemas.openxmlformats.org/officeDocument/2006/relationships/viewProps" Target="viewProps.xml"/><Relationship Id="rId105" Type="http://schemas.openxmlformats.org/officeDocument/2006/relationships/theme" Target="theme/theme1.xml"/><Relationship Id="rId10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封面。先简单自我介绍：我们是谁（ThinkNova，做 AI 营销视频的团队），为什么讲这堂课（我们每天都在用 AI 干活，踩过很多坑）。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大家好。今天这堂课不讲深奥的技术，只讲四件事：AI 是怎么回事、怎么跟它说话、怎么让它帮你干活、AI 视频是怎么做出来的。全程不需要会写代码，听完就能回去用。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这是今天的课程地图，我们按这个顺序一个主题一个主题往下讲。每个主题讲完都会有例子，有的还有小练习。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先问大家一个问题：你现在用 AI 主要做什么？大部分人的答案是「问问题」，把它当成一个更聪明的搜索框。今天我们要升级一下：把 AI 当成一个可以派活的助手。会用的人，一个人就像带了一个团队。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 1 部分：AI 到底是什么。不用懂技术，也能看懂。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我们常说的 AI，比如 ChatGPT、Claude，背后都是一个「大模型」。它的本事是：读过海量的文字，学会了接话。你给它一句话，它就接出最合适的下一段。所以它回答得好不好，很大程度上取决于你给了它多少信息。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了解 AI 的四个脾气，用起来就不会生气。第一，它天生没记忆，每个新对话都是第一次见你。第二，它一次能看的东西有限，你一下子丢给它一百页，它会漏。第三，同样的问题问两次答案不一样，这是正常的。第四，最重要：它不知道的事也会编得像真的一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编东西，业内叫「幻觉」。不是它故意骗你，而是它的工作方式就是「接得像」。所以给大家一个习惯：凡是数字、价格、日期、政策这些重要信息，一定要自己核对一遍，或者把真实资料发给它，让它照着资料回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三个简单的办法：给它真资料，让它说出处，重要的东西自己核对。做到这三点，AI 乱编的问题基本就能避免。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现在的 AI 已经从「会聊天」进化到「会干活」。以前你问它怎么做表格，它告诉你步骤，你自己去做；现在你说「帮我把这些订单整理成表格」，它自己打开文件、自己做好、交给你。今天后面讲的 Claude Code、Codex 就是这种会干活的 AI。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会干活的 AI 是怎么做事的？你给它一个任务，它先想下一步做什么，然后动手做一步，再看结果。没做完就继续想、继续做，直到做完再向你汇报。就像一个靠谱的员工：自己想、自己做、自己检查。用哪个工具、做几次、什么时候停，都是它自己决定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这张表建议大家拍下来。AI 做得不好，大多数时候不是 AI 笨，而是这几个原因。特别是最后一行：很多人一出问题就换一个 AI，结果换了几个都不行——因为问题出在自己的要求里，前面说要短，后面又说要详细，AI 也不知道听哪句。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简单回顾一下这四句话，然后我们进入最实用的部分：怎么跟 AI 说话。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 2 部分：怎么跟 AI 说话。提示词不是咒语，是把话说清楚。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同一个 AI，有的人用得很好，有的人觉得没用，最大的差别就在「怎么问」。好消息是：这是最容易学会的一项本事。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提示词这个词听起来很专业，其实就是你发给 AI 的那段话。网上有很多「万能提示词模板」，其实不用背。记住一个原则：像给新同事交代工作一样，把话说清楚。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好提示词有四个要素。第一，告诉它它是谁，它会换成那个身份的口吻。第二，要做什么，越具体越好。第三，有什么要求：字数、语气、格式。第四，给个例子，这一条效果最好——你喜欢哪条文案，直接贴给它，它会学那个感觉。四个要素不一定每次都要齐，但越齐，结果越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看这个例子。左边只说了「帮我回差评」，AI 不知道发生了什么，只能写一堆客套话。右边把情况、要做的事、字数、语气都说清楚了，出来的结果基本可以直接发。多花 30 秒把话说清楚，能省掉后面来回改的时间。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再给四个小技巧。一次只说一件事。不满意就接着改，不用重新开始。如果你自己也说不清楚要什么，就让 AI 先问你几个问题。还可以让它一次给几个不同风格的版本，你挑一个最喜欢的。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很多人第一版不满意就放弃了，或者重新开一个对话从头问。其实应该接着聊：告诉它哪里不好，让它改。满意之后，还可以让它把这个要求记下来，以后都按这个来。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现在大家动手试一下。拿出手机，打开你常用的 AI，用一件你真实想做的事，先用一句话问一次，再用四要素问一次，对比结果。做完和旁边的同学互相看看。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 3 部分：常听到的几个词，一次讲清。Agent、Harness、Skill、MCP……其实都不难。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接下来这部分会讲几个大家经常听到、但不太明白的词。不用记英文，也不用记定义，记住它们像生活里的什么东西就够了。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这三个词最容易搞混，我们用一个公式讲清楚。模型，就是 AI 的大脑，会思考、会说话，但它没有手脚，自己什么也做不了。Harness，就是给大脑配上的身体和规矩：能打开文件、能上网、能用各种工具，同时还有规矩限制它不能乱来。大脑装进这个身体，接到任务开始干活，就成了 Agent，也就是一个能干活的员工。所以：Agent = 模型 + Harness。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再换一个更熟悉的比喻：开车。司机的脑子就是模型，会认路、会判断。汽车加上交通规则就是 Harness：方向盘、油门刹车让司机能开动，安全带和限速保证安全。司机开着车把你送到目的地，这一整趟服务就是 Agent。如果只有司机没有车，他只能在电话里告诉你路怎么走——这就是普通的聊天 AI。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对应到真实产品：Claude、GPT 是模型，是大脑。Claude Code、Codex 是 Harness，是那套让大脑能动手的软件。当你打开 Claude Code，让它帮你整理文件，它开始一步步干活的时候，它就是一个 Agent。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一句话记住：Agent 说的是「谁在干活」，Harness 说的是「给它的装备和规矩」。平时大家说「Claude Code 是一个 AI Agent」，也不算错，因为它装上大脑、接到任务以后就是一个 Agent。我们区分这两个词，是为了知道：AI 干得好不好，一半看大脑，一半看装备和规矩给得好不好。后面讲的员工手册、权限、记忆，都属于 Harness 这一边，是我们能自己调整的部分。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还有一个常听到的词叫工作流，也就是流水线。流水线每一步都提前定好，像工厂一样，稳定。Agent 是自己决定下一步，像一个灵活的员工。固定的活用流水线，不固定的活交给 Agent。我们 ThinkNova 出一条视频就是一条流水线，后面会讲到。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有时候你会看到 AI 同时派出好几个「分身」去干活，这叫子 Agent。就像店长派几个店员分头调查。了解一下就行，记住分身的结论也要核对。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Skill，中文叫技能包。就像店里贴在墙上的标准作业卡，新员工照着做，味道都一样。你把自己做某件事的方法写成一份说明装给 AI，以后它遇到这类活，就按你的方法做。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技能包有四个好处：不用重复交代；质量稳定；可以装很多个，AI 平时只记得目录，用到哪个才翻开哪个；还可以分享给同事，整个团队用同一个方法。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MCP 听起来很技术，其实就是一个万能插头。以前每个软件接 AI 都要单独做，现在有了统一标准，插上就能用。对大家来说，只要知道：想让 AI 连上某个软件，就问一句「这个软件有没有 MCP」。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也是一个常听到的词，你就理解成开卷考试。AI 先去翻你给的资料，找到相关的内容再回答。很多智能客服就是这么做的。这也是防止 AI 乱编的好办法。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前面说过 AI 天生没记忆。那它怎么记住你的习惯呢？靠的是一本交接本：把重要的事写在文件里，每次开工前它先读一遍。记住这一点：AI 的记忆，就是一堆文件。这个我们最后讲 GitHub 的时候还会用到。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自动规则，英文叫 Hooks。它的特点是一定会执行，不靠 AI 自觉。就像门禁，刷不了卡就是进不去。一般由懂技术的同事帮忙设置，大家知道有这个东西就行。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计划模式是我最推荐大家用的功能。让 AI 先别动手，把它打算怎么做告诉你，你看了满意再让它做。就像装修先看设计图。重要的事、大的改动，一律先看方案。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这一页把刚才的词放在一起，建议拍照留着。以后在网上看到这些词，想想它像什么就行。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答案：1 技能包；2 记忆；3 RAG，开卷考试；4 MCP，万能插头；5 计划模式。可以请几位同学来回答。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 4 部分：Claude Code 上手。一个能帮你动手干活的 AI 助手。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Code 是 Anthropic 公司做的，名字里有 Code，但不是只给程序员用的。它最大的特点是能动手：你给它一个文件夹，它可以自己打开里面的文件、整理、写新文件。按刚才的公式，它就是一套 Harness，装上 Claude 这个大脑、接到你的任务，就是一个 Agent。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举几个小生意能用上的例子。整理资料：把一堆订单截图整理成表格。写东西：活动方案、客户回复。做小工具：一个简单的报价计算表、一个活动报名页。查资料：看看同行都在做什么活动。这些以前要找人做，现在说一句话就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Code 有几种用法。我推荐大家用桌面 App，跟普通软件一样，有界面、能点。网页版也可以，好处是手机也能看它干到哪了。命令行是程序员用的，我们不用管。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第一次用分四步。下载安装、登录。选一个文件夹，它只能看到这个文件夹里的东西，所以很安全。然后让它先了解情况，写一份说明。最后派第一个活，建议从小事开始，先建立信任。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员工手册是最值得花时间写的东西。它就是一个普通的文字文件，名字叫 CLAUDE.md，放在文件夹里。每次开工 AI 都会先读。里面写清楚：你是做什么的、它该怎么做事、哪些事不能做。后面讲规矩的时候会给大家一个模板。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Code 可以设置它有多大权限。刚开始用，选「每次都问我」，它做什么都先问你。用熟了，可以让它改文件不用问。遇到重要的事，就切到「先给方案」，也就是前面讲的计划模式。还有一种全部放开的模式，不建议大家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三个习惯。第一，一件事一个对话，不要一个对话从早聊到晚，聊太久它会乱。第二，告诉它怎么算做完，比如「做完自己检查一遍」。第三，你纠正过它的事，让它记进记忆，下次就不会再犯。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用熟了以后，还可以让它定时干活，比如每天早上自动整理订单；也可以放在云端干，关掉电脑也没关系；大任务还能拆给几个 AI 一起做。这些需要的时候再学。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现在我现场演示一遍，大家注意看这个顺序：先看方案、提修改、同意、让它做、要求它自查、最后让它记下来。这就是用 AI 助手干活的标准顺序。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大家动手写一份员工手册，不用长，一页以内。写完让 AI 帮你挑毛病，它会告诉你哪里说得不清楚。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 5 部分：Codex，以及怎么选。另一个同类的 AI 助手。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Codex 是做 ChatGPT 的那家公司出的，跟 Claude Code 是同一类东西。很多人已经有 ChatGPT 账号，可以直接登录试试。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两个对比一下，会发现几乎一样，最大的区别是员工手册的名字不一样：一个叫 CLAUDE.md，一个叫 AGENTS.md。同一个文件夹里两个都放上，两个工具就都能用。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怎么选？你已经在用哪个，就先试哪个。拿不准的话，同一件事让两个都做一遍，哪个顺手用哪个。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工具每个月都在变，今天学的按钮下个月可能就换位置了。但方法不会变：写员工手册、做技能包、先看方案、让它记下来。学会方法，换什么工具都能用。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 6 部分：让 AI 守规矩。规矩和记忆怎么写。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 AI 守规矩有四种力度。在对话里说一句，最弱，换个对话就忘。写进员工手册，每次都会读，但写太多它会漏看。做成技能包，照着流程走，比较稳。最强的是系统直接限制，比如在权限里禁止删除文件，它想删也删不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所以记住：后果严重的规矩，不能只靠说，要用系统限制住。就像店里的现金，不能只靠员工自觉，要有保险柜。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这是我们自己验证过很多次的经验：只告诉 AI「别做什么」，效果很差；直接告诉它「做什么」，效果好得多。同一个要求，我们只是把「别做」改成「做什么」，结果从全部失败变成全部成功。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写规矩四个要点：写短、写具体、说原因、别打架。说原因很重要：AI 知道为什么，遇到没写到的情况也能判断对。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规矩打架是最隐蔽的问题。AI 不会告诉你「你的两条要求矛盾了」，它会随便选一条，所以结果时好时坏，你还以为是 AI 不稳定。加新规矩之前，先看看跟旧的有没有冲突。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这是员工手册的模板，四部分：这是什么、常用做法、红线、做什么事先看哪份资料。大家回去照着填，一页以内。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记忆也要维护。最常见的问题是：新的写进去了，旧的没删，AI 先读到哪个就按哪个做。所以新的一定要替换旧的。价格、活动这种会变的东西不要写死，写「以最新价目表为准」。过时的内容定期删掉。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回顾一下这四句话。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 7 部分：让 AI 按流程干活。把一件事拆成几步，交给 AI 稳定完成。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复杂的事，一次全丢给 AI，它很容易做乱。拆成几步，每一步都能检查，结果就稳定了。这就是工作流。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搭一条流程分五步。先想清楚做完长什么样，不是「做个视频」，而是「一条 15 秒竖屏视频，能直接发」。然后拆成几步，每步只做一件事。每步说清楚要什么、交什么。花钱多的那一步之前加一次检查。最后先试一次，没问题再天天用。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看一个具体例子。每周写一篇小红书笔记，拆成五步。AI 负责出选题、写标题、写正文、给配图建议、自查；你负责挑和确认。你花的时间很少，但每一步都在你的掌控里。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常见的流程有三种。接力：一步接一步，最常用。同时做：几件事分开同时做，最后汇总，比如同时调查三个同行。一写一审：一个 AI 写，另一个 AI 挑毛病，质量会高很多。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检查要放在哪？放在最花钱的那一步前面。做视频最贵的是生成视频，所以我们先检查画面，画面对了再生成视频。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最后给大家一个派活的任务单。六行：要做什么、为什么做、给它什么、要交什么、怎么算做完、不许做什么。不管是派给 AI 还是派给同事，都好用。建议存在手机备忘录里。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大家试着把自己的一件工作拆成流程。小组讨论，选一组上来分享。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 8 部分：AI 视频是怎么做出来的。从一句话到一条营销短视频。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现在很火的 AI 漫剧、AI 短剧，背后都是这条生产线：AI 写剧本、定角色、画分镜、让画面动起来、配声音、最后剪成片。每一步都是一个 AI 在干活，整体是一条接力流水线，就是前面讲的工作流。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视频最大的难题，是前后不一样。你用文字写「一个穿红衣服的女孩」，每个镜头都会是不同的女孩。解决办法是给 AI 看照片，这叫参考图。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参考图有三把锁：人物、产品、店面。有一个细节：产品长什么样，一定要交给照片，不要用文字描述。我们踩过坑：文字写了「整只烤鸡」，实际卖的是切块的，画出来就是一整只。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这是我们 ThinkNova 的做法。用户只需要做两件事：填几句资料，传几张照片。后面写剧本、画分镜、生成视频，全部由 Agent 自动完成。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我们的经验是：每个环节只管一件事。编剧只管拍什么说什么；画面只管画得对、画得真，不写字；视频只管动起来。分工清楚，环节之间就不会打架。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拍之前先想清楚拍哪种。优惠活动适合故事型，先抛出一个问题，最后用产品解决。新品、门店介绍适合介绍型。价目表、通知就直接说重点。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分享几个我们自己踩过的坑。你会发现，这些坑和前面讲的道理一一对应：要求不要打架、规矩要精简、要看真实结果。这些经验不只适用于视频，用 AI 做任何事都一样。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我们做产品的原则是：用户不用动脑。用户是不懂 AI 的老板，所以每种行业、每种场景的设置我们都提前配好，用户选一下、说几句，就能出片。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在座有没有自己做生意的？做营销内容最难的就是这四点：不会拍、不会剪、不会写、请人太贵。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ThinkNova 就是为这些问题做的：给小生意做营销视频和海报的工具。写几句话或者传一张产品图，就能生成 15 秒的营销视频或海报，不用拍不用剪。实体店、网店、做服务的都能用。注册送体验积分，具体以官网当天为准。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现场可以打开官网注册试一下：选一个场景，写几句话或者传张图，点生成。有问题随时举手。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我们还在做一个长视频的工具，即将上线。它的思路就是先审后花钱：每个镜头先看画面，满意了再变成视频。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最后一个练习，写一份 5 个镜头的短视频脚本。写完可以现场用 ThinkNova 生成一条看看效果。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 9 部分：记得提交到 GitHub。让 AI 的记忆和你的成果永远不丢。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前面说过，AI 的记忆就是一堆文件，员工手册、技能包也都是文件。那问题来了：电脑坏了、文件删了，这些辛苦积累的东西会不会丢？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 是全球最大的文件存放网站，原本是程序员用的，但现在用 AI 的人都应该用。它有两个本事：一是保险柜，东西放在网上不会丢；二是时光机，每存一次都有记录，改坏了能回到以前。两个词记一下：仓库就是网上的一个文件夹，提交就是存档。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整个过程是这样的：AI 每天干活，记忆越来越多；你让它存到 GitHub；每次都有存档；换电脑、开新对话、新同事加入，都能把同一份记忆拿回来。AI 越用越懂你，靠的就是这份不会丢的记忆。我们自己的 AI 记忆，就是每天自动存到 GitHub 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三个好处：不丢、能退回、能共享。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第一次用：先在 github.com 免费注册一个账号；然后让 AI 帮你建一个仓库，一定要选「私有」，只有你自己能看；之后每天收工前存一次就行。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这是今天最需要记住的一句话。每天收工前，对 AI 说：帮我把今天的改动存到 GitHub。它就会帮你完成。我现场演示一下。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三个好习惯：每天存一次；仓库设成私有；密码这类信息不要放进文件。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 10 部分：总结。带走就能用的方法。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最后把今天的内容浓缩成五步：说清楚要什么、先看方案、一步一步做、看真实结果、记下来存起来。不管用什么 AI 工具都适用。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这些坑大家对照一下自己，看看踩过几个。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最后是安全提醒，这四条请大家一定做到。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参考答案：1 大脑、身体和规矩、能干活的员工；2 它是谁、做什么、什么要求、给个样子；3 严重的规矩要用系统限制，光说会忘；4 自己的要求有没有前后矛盾；5 用照片（参考图），不用文字描述；6 记忆就是文件，存到 GitHub。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回去第一周，就做这四件事：装一个工具、写一份员工手册、做一个技能包、每天存到 GitHub。做完这四件，你就已经超过大部分 AI 使用者了。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谢谢大家！现在是答疑时间。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N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3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AI 实战课 · ThinkNova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N_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58521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68880"/>
            <a:ext cx="58521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N_SECT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7452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N_STATEM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chemeClr val="accent5"/>
                </a:solidFill>
              </a:defRPr>
            </a:lvl1pPr>
          </a:lstStyle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image" Target="../media/image-4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image" Target="../media/image-5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image" Target="../media/image-59-3.png"/><Relationship Id="rId4" Type="http://schemas.openxmlformats.org/officeDocument/2006/relationships/image" Target="../media/image-5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image" Target="../media/image-6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image" Target="../media/image-63-3.png"/><Relationship Id="rId4" Type="http://schemas.openxmlformats.org/officeDocument/2006/relationships/image" Target="../media/image-6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png"/><Relationship Id="rId3" Type="http://schemas.openxmlformats.org/officeDocument/2006/relationships/image" Target="../media/image-6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png"/><Relationship Id="rId3" Type="http://schemas.openxmlformats.org/officeDocument/2006/relationships/image" Target="../media/image-7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image" Target="../media/image-76-2.png"/><Relationship Id="rId3" Type="http://schemas.openxmlformats.org/officeDocument/2006/relationships/image" Target="../media/image-76-3.png"/><Relationship Id="rId4" Type="http://schemas.openxmlformats.org/officeDocument/2006/relationships/image" Target="../media/image-76-4.png"/><Relationship Id="rId5" Type="http://schemas.openxmlformats.org/officeDocument/2006/relationships/image" Target="../media/image-7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image" Target="../media/image-81-2.png"/><Relationship Id="rId3" Type="http://schemas.openxmlformats.org/officeDocument/2006/relationships/image" Target="../media/image-81-3.png"/><Relationship Id="rId4" Type="http://schemas.openxmlformats.org/officeDocument/2006/relationships/image" Target="../media/image-8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image" Target="../media/image-82-2.png"/><Relationship Id="rId3" Type="http://schemas.openxmlformats.org/officeDocument/2006/relationships/image" Target="../media/image-82-3.png"/><Relationship Id="rId4" Type="http://schemas.openxmlformats.org/officeDocument/2006/relationships/image" Target="../media/image-8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image" Target="../media/image-83-2.png"/><Relationship Id="rId3" Type="http://schemas.openxmlformats.org/officeDocument/2006/relationships/image" Target="../media/image-8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image" Target="../media/image-89-2.png"/><Relationship Id="rId3" Type="http://schemas.openxmlformats.org/officeDocument/2006/relationships/image" Target="../media/image-89-3.png"/><Relationship Id="rId4" Type="http://schemas.openxmlformats.org/officeDocument/2006/relationships/image" Target="../media/image-8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image" Target="../media/image-90-2.png"/><Relationship Id="rId3" Type="http://schemas.openxmlformats.org/officeDocument/2006/relationships/image" Target="../media/image-9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3-1.png"/><Relationship Id="rId2" Type="http://schemas.openxmlformats.org/officeDocument/2006/relationships/image" Target="../media/image-93-2.png"/><Relationship Id="rId3" Type="http://schemas.openxmlformats.org/officeDocument/2006/relationships/image" Target="../media/image-9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image" Target="../media/image-97-2.png"/><Relationship Id="rId3" Type="http://schemas.openxmlformats.org/officeDocument/2006/relationships/image" Target="../media/image-97-3.png"/><Relationship Id="rId4" Type="http://schemas.openxmlformats.org/officeDocument/2006/relationships/image" Target="../media/image-9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9-1.png"/><Relationship Id="rId2" Type="http://schemas.openxmlformats.org/officeDocument/2006/relationships/image" Target="../media/image-99-2.png"/><Relationship Id="rId3" Type="http://schemas.openxmlformats.org/officeDocument/2006/relationships/image" Target="../media/image-99-3.png"/><Relationship Id="rId4" Type="http://schemas.openxmlformats.org/officeDocument/2006/relationships/image" Target="../media/image-9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AI 实战课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6888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Claude Code × Codex × AI 视频生成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1463040" cy="38404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完整版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主办 · ThinkNova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09360" y="640080"/>
            <a:ext cx="3291840" cy="3291840"/>
          </a:xfrm>
          <a:prstGeom prst="ellipse">
            <a:avLst/>
          </a:prstGeom>
          <a:solidFill>
            <a:schemeClr val="accent2">
              <a:alpha val="8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2743200"/>
            <a:ext cx="2011680" cy="2011680"/>
          </a:xfrm>
          <a:prstGeom prst="ellipse">
            <a:avLst/>
          </a:prstGeom>
          <a:solidFill>
            <a:schemeClr val="accent1">
              <a:alpha val="9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64592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这堂课你会学到什么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看懂 AI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AI 是怎么回答你的，为什么有时候会出错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8318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85750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85750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会跟 AI 说话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285750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怎么提要求，AI 才能一次做对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70916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98348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16687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98348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让 AI 帮你干活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98348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用 AI 助手整理资料、写东西、做小工具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83514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10946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66878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10946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看懂 AI 视频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710946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一条营销短视频是怎么生成的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课程地图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430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088136"/>
            <a:ext cx="320040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 到底是什么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363370"/>
            <a:ext cx="3200400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不用懂技术，也能看懂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09928"/>
            <a:ext cx="397764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80136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1746504"/>
            <a:ext cx="320040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怎么跟 AI 说话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021738"/>
            <a:ext cx="3200400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提示词不是咒语，是把话说清楚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68296"/>
            <a:ext cx="397764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45973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459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404872"/>
            <a:ext cx="320040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常听到的几个词，一次讲清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680106"/>
            <a:ext cx="3200400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Agent、Harness、Skill、MCP……其实都不难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026664"/>
            <a:ext cx="397764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118104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063240"/>
            <a:ext cx="320040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Claude Code 上手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338474"/>
            <a:ext cx="3200400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一个能帮你动手干活的 AI 助手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685032"/>
            <a:ext cx="397764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377647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3721608"/>
            <a:ext cx="320040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Codex，以及怎么选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3996842"/>
            <a:ext cx="3200400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另一个同类的 AI 助手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1051560"/>
            <a:ext cx="397764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11430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4632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349240" y="1088136"/>
            <a:ext cx="320040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让 AI 守规矩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349240" y="1363370"/>
            <a:ext cx="3200400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规矩和记忆怎么写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9160" y="1709928"/>
            <a:ext cx="397764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18013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4632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349240" y="1746504"/>
            <a:ext cx="320040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让 AI 按流程干活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5349240" y="2021738"/>
            <a:ext cx="3200400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把一件事拆成几步，交给 AI 稳定完成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09160" y="2368296"/>
            <a:ext cx="397764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46320" y="245973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846320" y="2459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349240" y="2404872"/>
            <a:ext cx="320040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 视频是怎么做出来的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5349240" y="2680106"/>
            <a:ext cx="3200400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从一句话到一条营销短视频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09160" y="3026664"/>
            <a:ext cx="397764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46320" y="311810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846320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5349240" y="3063240"/>
            <a:ext cx="320040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记得提交到 GitHub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5349240" y="3338474"/>
            <a:ext cx="3200400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让 AI 的记忆和你的成果永远不丢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709160" y="3685032"/>
            <a:ext cx="397764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46320" y="377647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846320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5349240" y="3721608"/>
            <a:ext cx="320040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总结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5349240" y="3996842"/>
            <a:ext cx="3200400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带走就能用的方法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AI 不是搜索框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是一个可以派活的助手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这堂课的目标：从「问 AI 问题」，变成「让 AI 帮你干活」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01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874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AI 到底是什么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不用懂技术，也能看懂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AI 是怎么回答你的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大模型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它读过海量的文字，学会了「接着往下说」。你说一句，它就接出最合适的下一段。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它不是上网搜答案，也不是真的有想法，而是特别会「接话」。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像一个读过几百万本书的实习生：知道得很多，但你不说清楚，他只能靠猜。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你说「帮我写个开业文案」，它会写；你再告诉它店名、地址、优惠，它写得就准多了。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AI 的 4 个「脾气」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5272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371600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61872" y="1252728"/>
            <a:ext cx="30403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天生没记忆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61872" y="1783080"/>
            <a:ext cx="3040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每开一个新对话，它都不记得上次聊过什么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86300" y="1051560"/>
            <a:ext cx="40005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69180" y="125272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052" y="137160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90972" y="1252728"/>
            <a:ext cx="30403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一次能看的有限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490972" y="1783080"/>
            <a:ext cx="3040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资料太多太长，它会漏看、会忘掉前面的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2926080"/>
            <a:ext cx="40005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312724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246120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61872" y="3127248"/>
            <a:ext cx="30403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每次答得不一样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261872" y="3657600"/>
            <a:ext cx="3040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同一个问题问两次，答案不同是正常的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686300" y="2926080"/>
            <a:ext cx="40005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69180" y="312724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8052" y="3246120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90972" y="3127248"/>
            <a:ext cx="30403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会一本正经地编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490972" y="3657600"/>
            <a:ext cx="3040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不知道的事，它也会说得像真的一样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AI 为什么会「编」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一本正经地胡说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AI 的任务是把话「接得像」，不是「保证对」。你没给它真资料，它就自己补。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所以重要的数字、价格、日期、政策，一定要核对。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像一个不好意思说「不知道」的新员工：没资料也硬交一份像样的报告。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问它「我们店周末几点关门」，它没看过你的资料，也可能随口答一个时间。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三招，防止 AI 乱编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给它真资料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把价目表、说明书直接发给它，让它照着答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6616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让它说出处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「这个结论是从哪份资料里来的？」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2648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16687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重要的自己核对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价格、日期、承诺，发出去之前看一眼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从「聊天」到「干活」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258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1467612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3258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会聊天的 AI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4884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你问，它答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只能给你建议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活还得你自己干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709160" y="1097280"/>
            <a:ext cx="397764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83480" y="13258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212" y="146761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3258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会干活的 AI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983480" y="214884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你派活，它去做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能自己打开文件、上网查、写文件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做完向你汇报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会干活的 AI，是这样做事的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691640"/>
            <a:ext cx="17373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916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你派一个活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40280" y="2125980"/>
            <a:ext cx="365760" cy="0"/>
          </a:xfrm>
          <a:prstGeom prst="line">
            <a:avLst/>
          </a:prstGeom>
          <a:noFill/>
          <a:ln w="25400">
            <a:solidFill>
              <a:srgbClr val="4A4E73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651760" y="1691640"/>
            <a:ext cx="1828800" cy="868680"/>
          </a:xfrm>
          <a:prstGeom prst="roundRect">
            <a:avLst>
              <a:gd name="adj" fmla="val 1263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0" y="16916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AI 想：下一步做什么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26280" y="2125980"/>
            <a:ext cx="365760" cy="0"/>
          </a:xfrm>
          <a:prstGeom prst="line">
            <a:avLst/>
          </a:prstGeom>
          <a:noFill/>
          <a:ln w="25400">
            <a:solidFill>
              <a:srgbClr val="4A4E7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937760" y="1691640"/>
            <a:ext cx="182880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0" y="16916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 动手做一步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12280" y="2125980"/>
            <a:ext cx="365760" cy="0"/>
          </a:xfrm>
          <a:prstGeom prst="line">
            <a:avLst/>
          </a:prstGeom>
          <a:noFill/>
          <a:ln w="25400">
            <a:solidFill>
              <a:srgbClr val="4A4E7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223760" y="1691640"/>
            <a:ext cx="1463040" cy="868680"/>
          </a:xfrm>
          <a:prstGeom prst="roundRect">
            <a:avLst>
              <a:gd name="adj" fmla="val 1263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0" y="169164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AI 看结果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55280" y="1234440"/>
            <a:ext cx="0" cy="457200"/>
          </a:xfrm>
          <a:prstGeom prst="line">
            <a:avLst/>
          </a:prstGeom>
          <a:noFill/>
          <a:ln w="25400">
            <a:solidFill>
              <a:srgbClr val="FF6A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1234440"/>
            <a:ext cx="4389120" cy="0"/>
          </a:xfrm>
          <a:prstGeom prst="line">
            <a:avLst/>
          </a:prstGeom>
          <a:noFill/>
          <a:ln w="25400">
            <a:solidFill>
              <a:srgbClr val="FF6A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66160" y="1234440"/>
            <a:ext cx="0" cy="438912"/>
          </a:xfrm>
          <a:prstGeom prst="line">
            <a:avLst/>
          </a:prstGeom>
          <a:noFill/>
          <a:ln w="25400">
            <a:solidFill>
              <a:srgbClr val="FF6A3D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4572000" y="960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没做完？继续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66160" y="2578608"/>
            <a:ext cx="0" cy="576072"/>
          </a:xfrm>
          <a:prstGeom prst="line">
            <a:avLst/>
          </a:prstGeom>
          <a:noFill/>
          <a:ln w="25400">
            <a:solidFill>
              <a:srgbClr val="4A4E7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651760" y="3154680"/>
            <a:ext cx="1828800" cy="6858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651760" y="31546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做完 → 向你汇报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31546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就像一个靠谱的员工：自己想、自己做、自己检查，做完再找你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AI 做得不好？先看看是不是这几个原因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31089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你看到的情况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可能的原因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怎么办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写得很空、很套话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你给的信息太少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补上：给谁看、用在哪、多长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不知道你的习惯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它没有记忆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把习惯写成一份说明，每次给它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用了过时的信息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它不知道最新情况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把最新的资料发给它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越聊越乱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一个对话聊太久、太杂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开一个新对话，重新说清楚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换了几个 AI 都不行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你的要求前后矛盾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检查要求有没有互相打架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这一部分记住四句话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5214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234440"/>
            <a:ext cx="164592" cy="1645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05156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AI 是一个很会「接话」的助手，你说得越清楚，它做得越好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1673352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773936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856232"/>
            <a:ext cx="164592" cy="16459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1560" y="1673352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它没有记忆、会编东西，重要的信息要自己核对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57200" y="2295144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94360" y="239572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478024"/>
            <a:ext cx="164592" cy="16459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51560" y="2295144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现在的 AI 不只会聊天，还能自己动手把活干完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457200" y="2916936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94360" y="301752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3099816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51560" y="2916936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做得不好先找原因，别急着换 AI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02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874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怎么跟 AI 说话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提示词不是咒语，是把话说清楚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AI 的回答好不好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一半取决于你怎么问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你说得越清楚，它猜得越少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什么是提示词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提示词（Prompt）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你发给 AI 的那段话，就叫提示词。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不需要特殊格式，也不用背模板，像给新同事交代工作一样说清楚就行。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像点外卖写备注：只写「好吃点」没用，写「少辣、不要香菜、多放醋」才有用。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❌ 帮我写个文案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✅ 帮我的奶茶店写 3 条新品朋友圈文案，每条 50 字以内，语气轻松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好提示词的四个要素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5272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371600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61872" y="1252728"/>
            <a:ext cx="30403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① 它是谁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61872" y="1783080"/>
            <a:ext cx="3040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「你是一个做了十年餐饮营销的文案」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86300" y="1051560"/>
            <a:ext cx="40005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69180" y="125272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052" y="137160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90972" y="1252728"/>
            <a:ext cx="30403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② 要做什么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490972" y="1783080"/>
            <a:ext cx="3040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「帮我写 3 条新品上市的朋友圈文案」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2926080"/>
            <a:ext cx="40005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312724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246120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61872" y="3127248"/>
            <a:ext cx="30403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③ 有什么要求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261872" y="3657600"/>
            <a:ext cx="3040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「每条 50 字以内，语气轻松，带一个表情」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686300" y="2926080"/>
            <a:ext cx="40005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69180" y="312724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8052" y="3246120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90972" y="3127248"/>
            <a:ext cx="30403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④ 给个样子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490972" y="3657600"/>
            <a:ext cx="3040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「参考这条的风格：……」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同一件事，两种问法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258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1467612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3258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说得笼统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4884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「帮我回一下这条差评」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结果：一堆客套话，没有重点，不能直接用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709160" y="1097280"/>
            <a:ext cx="397764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83480" y="13258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212" y="146761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3258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说得清楚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983480" y="214884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「我们是社区面包店，这位客人收到的口味发错了。帮我写一条回复：先道歉，说明下次怎么避免，送一张 9 折券，100 字以内，语气真诚」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结果：基本可以直接发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马上能用的四个小技巧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一次一件事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别在一句话里塞五个任务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8318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85750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85750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不满意就接着改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285750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「再短一点」「更口语一点」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70916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98348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16687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98348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让它先问你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98348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「开始前先问我 3 个问题」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83514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10946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66878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10946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要几个版本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710946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「给我 3 个不同风格的版本」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不满意怎么办：接着聊，别重来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833372" y="1737360"/>
            <a:ext cx="136245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121158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115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先让它写一版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2670048"/>
            <a:ext cx="1911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不用一开始就完美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90772" y="1737360"/>
            <a:ext cx="136245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26898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689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指出哪里不好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587752" y="2670048"/>
            <a:ext cx="1911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「开头太长」「太像广告」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8172" y="1737360"/>
            <a:ext cx="136245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32638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263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让它改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645152" y="2670048"/>
            <a:ext cx="1911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它会在原来的基础上调整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8378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837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满意了让它记住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702552" y="2670048"/>
            <a:ext cx="1911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「以后都按这个风格写」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794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改两三轮很正常。好结果，是一来一回聊出来的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练习：把一句话改成好提示词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286000" cy="3520440"/>
          </a:xfrm>
          <a:prstGeom prst="roundRect">
            <a:avLst>
              <a:gd name="adj" fmla="val 48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课堂实操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动手试一试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017520" y="11887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01752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611880" y="10515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选一件你最近想让 AI 帮忙的事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017520" y="18745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01752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17373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先写一句最简单的问法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017520" y="2560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1752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611880" y="24231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按四要素补全：它是谁、做什么、什么要求、给个样子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017520" y="32461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01752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3611880" y="31089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两个版本都发给 AI，对比一下结果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3017520" y="39319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01752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3611880" y="37947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和旁边的同学交换看看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03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874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常听到的几个词，一次讲清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Agent、Harness、Skill、MCP……其实都不难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不用记英文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记住它们像什么就行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每个词，我们都用一个生活里的东西来比喻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最容易搞混的三个词：一个公式讲清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468880" cy="25146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62456" y="1234440"/>
            <a:ext cx="658368" cy="6583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048" y="1399032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965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模型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3774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= 大脑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788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会思考、会说话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但没有手脚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2926080" y="198882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+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3337560" y="1051560"/>
            <a:ext cx="2468880" cy="25146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42816" y="1234440"/>
            <a:ext cx="658368" cy="6583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1399032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29000" y="1965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Harness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3429000" y="23774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= 身体 + 规矩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474720" y="2788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手脚、工具箱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还有不许乱来的规定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5806440" y="198882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=</a:t>
            </a:r>
            <a:endParaRPr lang="en-US" sz="3200" dirty="0"/>
          </a:p>
        </p:txBody>
      </p:sp>
      <p:sp>
        <p:nvSpPr>
          <p:cNvPr id="17" name="Shape 13"/>
          <p:cNvSpPr/>
          <p:nvPr/>
        </p:nvSpPr>
        <p:spPr>
          <a:xfrm>
            <a:off x="6217920" y="1051560"/>
            <a:ext cx="2468880" cy="2514600"/>
          </a:xfrm>
          <a:prstGeom prst="roundRect">
            <a:avLst>
              <a:gd name="adj" fmla="val 444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123176" y="1234440"/>
            <a:ext cx="658368" cy="65836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7768" y="1399032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309360" y="1965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Agent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6309360" y="23774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= 能干活的员工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6355080" y="2788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自己想、自己做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把事情干完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1411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85800" y="37490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Agent（智能体）= 模型（大脑）+ Harness（装备和规矩）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用「开车」来理解</a:t>
            </a:r>
            <a:endParaRPr lang="en-US" sz="2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017520"/>
                <a:gridCol w="36576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司机：会认路、会判断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模型：Claude、GPT 这些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车和交规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方向盘、油门刹车、导航、安全带、限速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Harness：让 AI 能动手用工具，同时限制它不能乱来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整趟服务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把你安全送到目的地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Agent：接到你的活，自己一步步做完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3794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只有司机、没有车 = 只能告诉你路怎么走。这就是普通的聊天 AI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对应到真实的产品</a:t>
            </a:r>
            <a:endParaRPr lang="en-US" sz="24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  <a:gridCol w="34747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例子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的大脑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Claude、GPT、DeepSeek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Harness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装着大脑、让它能动手的那套软件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Claude Code、Codex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大脑装进软件、接到任务、跑起来干活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你让 Claude Code 整理文件时，正在干活的那个它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Agent 是「谁在干活」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Harness 是「给它的装备和规矩」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日常说「Claude Code 是一个 AI Agent」也没错：它装上大脑、接到任务，就是一个 Agent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Agent 和「流水线」有什么不同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258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1467612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3258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流水线（工作流）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4884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每一步都提前定好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稳定，每次结果差不多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适合固定的活：比如每天出一条视频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709160" y="1097280"/>
            <a:ext cx="397764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83480" y="13258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212" y="146761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3258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Agent（智能体）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983480" y="214884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下一步做什么，它自己决定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灵活，能处理意外情况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适合不固定的活：比如查清楚问题出在哪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分身：派出去的小帮手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子 Agent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主 AI 把一件大事拆开，派几个「分身」各做一部分，分身只把结果交回来。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好处是快，而且主对话不会被弄乱。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店长派三个店员分头去调查：一个看对面店的价格，一个看网上评价，一个看新品。每人只回来汇报一页。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分身也会出错，它交回来的结论，重要的要自己再核对一下。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Skill：教一次，以后照着做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Skill（技能包）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把「一件事怎么做」写成一份标准说明，装给 AI。以后遇到这类活，它就照着做。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你教一次，它以后每次都按你的方法做，不用每次重新交代。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店里的标准作业卡：新员工照着做，做出来的味道都一样。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「写小红书笔记」技能：先定选题 → 再起标题 → 写正文 → 配图建议 → 最后自己检查一遍。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技能包为什么好用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不用重复交代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教一次，以后自动照做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8318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85750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85750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质量稳定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285750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每次都按同一个流程走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70916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98348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16687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98348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可以装很多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98348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用到哪个才翻开哪个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83514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10946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66878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10946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能分享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710946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同事也能用你的方法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MCP：AI 的万能插头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MCP（万能插头）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一套统一的「插头标准」，让 AI 能连上各种软件。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有了它，AI 可以直接读你的文档、看你的日历、查你的邮箱。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像手机的 Type-C 接口：一根线，什么设备都能插。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「帮我看看下周日历上有哪些会，整理成一张表，发到我的邮箱」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RAG：先翻资料，再回答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RAG（开卷考试）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AI 回答之前，先去你给的资料里找相关内容，再根据找到的内容回答。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这样它就不会瞎编，还能告诉你答案出自哪里。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开卷考试：不靠死记硬背，翻书找到答案再写。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把店里的价目表、常见问题发给 AI。客人问「周末营业吗」，它照着资料回答。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记忆：AI 的交接本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记忆（Memory）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AI 本身记不住事。所谓记忆，是把重要的事写在文件里，每次开工前让它先读一遍。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记忆其实就是一堆文件。文件会丢，所以要备份，最后一部分会讲怎么备份。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店里的交接本：每天上班先翻一遍，知道昨天做到哪、老板交代过什么。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「回复我一律用中文」「我们店叫……」「海报主色用橙色」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自动规则：不靠 AI 自觉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Hooks（自动规则）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在固定的时刻自动执行的规矩，由系统执行，不靠 AI 自己记得。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写在说明里的规矩，AI 有可能忘；做成自动规则，就一定会执行。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店门口的门禁：没刷卡就是进不去，不靠员工自觉。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每次开工前，自动读取最新的记忆；任何时候都不允许删除客户资料。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计划模式：先看方案，再动手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计划模式（Plan）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先让 AI 只看不动，把打算怎么做写成方案给你看。你点头了，它才开始做。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大事先看方案，避免它一口气做错一大堆。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装修先看设计图，满意了再开工。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「先别动手，告诉我你打算怎么整理这些文件」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一页总结：这些词像什么</a:t>
            </a:r>
            <a:endParaRPr lang="en-US" sz="24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94560"/>
                <a:gridCol w="4206240"/>
              </a:tblGrid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像什么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一句话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会思考、会说话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Harness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身体和规矩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让 AI 能动手，又不乱来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能干活的员工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自己想、自己做、做完汇报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工作流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流水线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步骤提前定好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Skill 技能包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标准作业卡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教一次，以后照着做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MCP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万能插头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让 AI 连上各种软件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RAG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开卷考试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先翻资料，再回答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交接本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重要的事写下来，每次先读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计划模式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先看设计图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先给方案，点头再做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练习：这个场景用到了哪个词？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286000" cy="3520440"/>
          </a:xfrm>
          <a:prstGeom prst="roundRect">
            <a:avLst>
              <a:gd name="adj" fmla="val 48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课堂实操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动手试一试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017520" y="11887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01752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611880" y="10515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让 AI 每次都按同一套方法写小红书 → ？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017520" y="18745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01752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17373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AI 记住了你喜欢简短的回复 → ？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017520" y="2560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1752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611880" y="24231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AI 读你的价目表来回答客人 → ？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017520" y="32461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01752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3611880" y="31089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AI 连上了你的日历和邮箱 → ？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3017520" y="39319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01752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3611880" y="37947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先看 AI 的方案，再让它动手 → ？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04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874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Claude Code 上手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一个能帮你动手干活的 AI 助手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Claude Code 是什么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Claude Code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Anthropic 公司做的 AI 助手软件。它不只会聊天，还能打开你电脑里的文件、整理资料、写文档、上网查东西。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以前是「你问它答」，现在是「你派活，它干完向你汇报」。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从「电话里的顾问」，变成「坐在你旁边、能动手的助理」。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「把这个文件夹里 20 份客户反馈整理成一张表，按问题分类，再写一页总结」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它能帮小生意做什么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整理资料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把聊天记录、订单整理成表格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8318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85750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85750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写东西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285750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文案、回复、活动方案、说明书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70916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98348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16687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98348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做小工具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98348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简单的网页、报价计算表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83514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10946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66878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10946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查资料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710946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看同行怎么做、找行业信息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在哪里用它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桌面 App（推荐）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装在电脑上，像普通软件一样用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6616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网页版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打开浏览器就能用，手机也能看进度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2648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16687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命令行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程序员常用，这堂课不用学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第一次使用：四步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833372" y="1737360"/>
            <a:ext cx="136245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121158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115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下载登录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2670048"/>
            <a:ext cx="1911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官网下载桌面 App，用账号登录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90772" y="1737360"/>
            <a:ext cx="136245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26898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689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选一个文件夹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587752" y="2670048"/>
            <a:ext cx="1911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它只能看到你给它的这个文件夹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8172" y="1737360"/>
            <a:ext cx="136245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32638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263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让它了解情况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645152" y="2670048"/>
            <a:ext cx="1911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「看看这里有什么，帮我写一份说明」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8378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837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派第一个活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702552" y="2670048"/>
            <a:ext cx="1911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从小事开始，比如整理一份文件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794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第三步写出来的说明，就是它的「员工手册」，文件名叫 CLAUDE.md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员工手册：写一次，每次都读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员工手册（CLAUDE.md）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放在文件夹里的一份说明。它每次开工都会先读一遍。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写一次，以后不用每次都重复交代。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新员工入职手册：店是做什么的、怎么做事、哪些事绝对不能做。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我们是社区烘焙店 / 文案语气要亲切 / 不许承诺「最便宜」 / 价格以价目表为准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给它多大的权限</a:t>
            </a:r>
            <a:endParaRPr lang="en-US" sz="24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474720"/>
                <a:gridCol w="27432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它会怎么做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什么时候用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每次都问我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做任何改动之前，都先问你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刚开始用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改文件不用问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整理、修改文件直接做，其他事还会问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用熟了以后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先给方案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只看不改，先把打算告诉你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重要的、大的改动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用好它的三个习惯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一件事一个对话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换一件事，就开一个新对话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6616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说清楚怎么算做完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「做完自己检查一遍再交给我」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2648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16687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纠正过就让它记下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「把这个要求记下来，以后都这样」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它还能自己干活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定时干活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每天早上把昨天的订单整理好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6616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在云端干活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关掉电脑它也能干，用手机看结果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2648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16687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几个一起干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大任务拆给几个 AI 同时做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现场演示：派一件完整的活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286000" cy="3520440"/>
          </a:xfrm>
          <a:prstGeom prst="roundRect">
            <a:avLst>
              <a:gd name="adj" fmla="val 48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课堂实操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动手试一试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017520" y="11887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01752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611880" y="10515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打开 Claude Code，选一个放了几份资料的文件夹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017520" y="18745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01752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17373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切到「先给方案」：「读这些资料，整理成一页客人常见问题，先告诉我你打算怎么做」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017520" y="2560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1752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611880" y="24231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看方案，提一处修改，然后同意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017520" y="32461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01752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3611880" y="31089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让它开始做，并要求「做完自己检查一遍」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3017520" y="39319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01752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3611880" y="37947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最后说：「把我刚才的修改要求记下来」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练习：写一份你自己的 AI 员工手册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286000" cy="3520440"/>
          </a:xfrm>
          <a:prstGeom prst="roundRect">
            <a:avLst>
              <a:gd name="adj" fmla="val 48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课堂实操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动手试一试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017520" y="11887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01752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611880" y="10515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选一件你每周都在做的工作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017520" y="18745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01752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17373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写一句话：这是什么工作，给谁用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017520" y="2560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1752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611880" y="24231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写 3 条做法，比如「语气要亲切」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017520" y="32461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01752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3611880" y="31089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写 3 条红线，比如「不许乱报价格」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3017520" y="39319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01752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3611880" y="37947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发给 AI：「帮我看看这份说明哪里写得不清楚」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05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874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Codex，以及怎么选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另一个同类的 AI 助手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Codex 是什么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Codex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OpenAI（做 ChatGPT 的公司）做的 AI 助手，和 Claude Code 是同一类：能读、能写、能动手。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用 ChatGPT 的账号就能登录，也有桌面 App 和网页版。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另一家公司培养的同类型员工：本事差不多，脾气不太一样。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网页版可以把任务交给云端去做，做完再把结果拿回来。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Claude Code 和 Codex，对比一下</a:t>
            </a:r>
            <a:endParaRPr lang="en-US" sz="24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0175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Claude Code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Codex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谁做的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Anthropic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OpenAI（做 ChatGPT 的公司）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用什么账号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Claude 账号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ChatGPT 账号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员工手册叫什么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CLAUDE.md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AGENTS.md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先给方案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技能包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网页版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claude.ai/code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chatgpt.com/codex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怎么选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已经在用 ChatGPT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先试 Codex，账号直接能用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6616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已经在用 Claude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先试 Claude Code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2648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16687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拿不准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同一件事让两个都做一次，比一比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学方法，不押工具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员工手册、技能包、先给方案、记忆：两个工具都通用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06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874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让 AI 守规矩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规矩和记忆怎么写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管住 AI 的四种力度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237744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0515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① 聊天时说一句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10515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最弱：换一个对话就忘了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38528"/>
            <a:ext cx="822960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38528"/>
            <a:ext cx="237744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93852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② 写进员工手册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193852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中等：每次开工都会读，但写太多会被忽略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825496"/>
            <a:ext cx="822960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825496"/>
            <a:ext cx="237744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825496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③ 做成技能包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2825496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较强：照着流程一步步做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712464"/>
            <a:ext cx="822960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712464"/>
            <a:ext cx="237744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712464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④ 系统直接限制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063240" y="3712464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最强：不让做就是做不了，比如禁止删除文件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后果严重的规矩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别只靠 AI 自觉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「不许删客户资料」→ 直接在权限里禁止。光靠嘴说，总有一天会忘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告诉它「做什么」，比「别做什么」有用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258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1467612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3258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只说「别做」（效果差）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4884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「别写得太长」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「别用专业词」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「别拍空镜头」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709160" y="1097280"/>
            <a:ext cx="397764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83480" y="13258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212" y="146761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3258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直接说「做什么」（效果好）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983480" y="214884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「每条不超过 50 字」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「用客人的话说，比如“好吃不贵”」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「第 1 个镜头拍店员的手，第 2 个拍产品特写」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写好规矩的四个要点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5272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371600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61872" y="1252728"/>
            <a:ext cx="30403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写短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61872" y="1783080"/>
            <a:ext cx="3040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越长越容易被忽略，一页以内最好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86300" y="1051560"/>
            <a:ext cx="40005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69180" y="125272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052" y="137160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90972" y="1252728"/>
            <a:ext cx="30403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写具体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490972" y="1783080"/>
            <a:ext cx="3040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不写「认真点」，写「检查价格、日期、店名三项」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2926080"/>
            <a:ext cx="40005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312724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246120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61872" y="3127248"/>
            <a:ext cx="30403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说原因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261872" y="3657600"/>
            <a:ext cx="3040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「不写最便宜：会被当成虚假宣传」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686300" y="2926080"/>
            <a:ext cx="40005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69180" y="312724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8052" y="3246120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90972" y="3127248"/>
            <a:ext cx="30403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别打架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490972" y="3657600"/>
            <a:ext cx="3040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加新规矩前，看看和旧的有没有矛盾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规矩打架，AI 只能瞎选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规矩互相矛盾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同一份说明里，两条规矩互相冲突。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AI 不会提醒你，它会随便选一条执行，结果时好时坏。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老板说「写满一页」，店长说「不超过半页」，员工怎么写都是错。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我们踩过的坑：一条要求「每段写满」，另一条要求「总字数不能超」，一半的任务要返工。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员工手册模板</a:t>
            </a:r>
            <a:endParaRPr lang="en-US" sz="24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6576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怎么写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例子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这是什么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一两句话说清楚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社区烘焙店的小红书内容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常用做法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最常做的几件事怎么做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写完文案，先自己检查一遍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红线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绝对不能做的事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不承诺效果，不乱报价格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先看哪个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做什么事先看哪份资料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写价格 → 先看价目表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记忆要常更新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新的替换旧的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价格改了，就把旧价格删掉，别两个都留着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6616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会变的别写死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写「以最新价目表为准」，别写具体数字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2648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16687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定期清理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过时的、已经做完的，删掉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这一部分记住四句话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5214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234440"/>
            <a:ext cx="164592" cy="1645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05156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严重的规矩用系统限制，不只靠说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1673352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773936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856232"/>
            <a:ext cx="164592" cy="16459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1560" y="1673352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告诉它做什么，比告诉它别做什么有用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57200" y="2295144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94360" y="239572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478024"/>
            <a:ext cx="164592" cy="16459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51560" y="2295144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规矩要短、要具体、要说原因、不能打架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457200" y="2916936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94360" y="301752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3099816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51560" y="2916936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记忆要更新：新的进来，旧的删掉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07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874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让 AI 按流程干活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把一件事拆成几步，交给 AI 稳定完成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大事拆小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每一步都能检查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一次交给 AI 一大堆，不如拆成几步，一步一步来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搭一条流程，五步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627632" y="1737360"/>
            <a:ext cx="95097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100584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想清楚要什么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2670048"/>
            <a:ext cx="1499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做完长什么样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737360"/>
            <a:ext cx="95097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5176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5176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拆成几步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176272" y="2670048"/>
            <a:ext cx="1499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每一步只做一件事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19472" y="1737360"/>
            <a:ext cx="95097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29768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976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794760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每步说清楚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822192" y="2670048"/>
            <a:ext cx="1499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要什么、交什么、不管什么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65392" y="1737360"/>
            <a:ext cx="95097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94360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40680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关键处检查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468112" y="2670048"/>
            <a:ext cx="1499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花钱多的那步之前，先看一眼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58952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086600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先试一次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114032" y="2670048"/>
            <a:ext cx="1499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没问题再天天用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3794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例子：一篇小红书笔记 = 定选题 → 写标题 → 写正文 → 配图 → 检查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例子：每周一篇小红书笔记</a:t>
            </a:r>
            <a:endParaRPr lang="en-US" sz="240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474720"/>
                <a:gridCol w="29260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步骤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做什么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你做什么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定选题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给出 5 个选题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挑一个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写标题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 3 个标题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挑一个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写正文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按技能包写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看一眼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配图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给出配图建议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拍照或选图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对照规矩自查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确认后发布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三种常见的流程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接力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上一步做完，交给下一步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6616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同时做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几件事一起做，最后汇总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2648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16687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一写一审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一个负责写，一个负责挑毛病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检查放在最花钱的那一步前面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先审后花钱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在最花钱、最费时间的那一步之前，先检查上一步的结果。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分镜画面不对，就别急着生成视频。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装修先看效果图，满意了再开工；开工以后再改，就贵了。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我们做视频：每个镜头先看画面，满意了再变成视频，哪段不满意只重做那一段。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给 AI 派活的任务单</a:t>
            </a:r>
            <a:endParaRPr lang="en-US" sz="2400" dirty="0"/>
          </a:p>
        </p:txBody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例子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要做什么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写一篇母亲节活动的小红书笔记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想吸引附近的妈妈来店里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给它什么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活动内容、价目表、店铺照片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要交什么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标题 3 个、正文 1 篇、配图建议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怎么算做完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字数 300 以内，价格和日期核对过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不许做什么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不写「最便宜」，不承诺效果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练习：画出你的一条流程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286000" cy="3520440"/>
          </a:xfrm>
          <a:prstGeom prst="roundRect">
            <a:avLst>
              <a:gd name="adj" fmla="val 48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课堂实操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动手试一试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017520" y="11887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01752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611880" y="10515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选一件你每周都要重复做的事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017520" y="18745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01752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17373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写下做完以后长什么样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017520" y="2560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1752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611880" y="24231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拆成 3 到 5 步，每步写清楚交什么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017520" y="32461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01752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3611880" y="31089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找出最花钱或最容易出错的一步，在它前面加一次检查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3017520" y="39319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01752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3611880" y="37947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想想哪几步可以交给 AI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08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874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AI 视频是怎么做出来的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从一句话到一条营销短视频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AI 漫剧、AI 短视频的生产线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444752" y="1691640"/>
            <a:ext cx="76809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914400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103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写剧本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2578608"/>
            <a:ext cx="1225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AI 写好每个镜头拍什么、说什么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16352" y="1691640"/>
            <a:ext cx="76809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286000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860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874520" y="2103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定角色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901952" y="2578608"/>
            <a:ext cx="1225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人物、产品、店面的照片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87952" y="1691640"/>
            <a:ext cx="76809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657600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576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246120" y="2103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画分镜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273552" y="2578608"/>
            <a:ext cx="1225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AI 先画出每个镜头的画面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59552" y="1691640"/>
            <a:ext cx="76809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029200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2103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动起来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645152" y="2578608"/>
            <a:ext cx="1225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把画面变成视频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31152" y="1691640"/>
            <a:ext cx="76809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400800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2103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配声音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016752" y="2578608"/>
            <a:ext cx="1225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配音、对白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772400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360920" y="2103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剪成片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388352" y="2578608"/>
            <a:ext cx="1225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加字幕、音乐，拼起来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3794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AI 漫剧、AI 短剧、AI 广告片，背后都是这条生产线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最大的难题：前后不一样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同一个人，10 个镜头里长得都不一样；产品变了形；店面换了样。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解决办法：用照片告诉 AI，而不是用文字描述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参考图，三把锁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人物锁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同一张脸、同一身衣服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6616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产品锁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产品形状、包装不变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2648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16687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店面锁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同一家店、同一个环境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我们的做法：ThinkNova 视频 Agent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89888" cy="2331720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" y="13258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14859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10312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填资料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560320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商品名、卖点、活动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883664" y="2263140"/>
            <a:ext cx="246888" cy="0"/>
          </a:xfrm>
          <a:prstGeom prst="line">
            <a:avLst/>
          </a:prstGeom>
          <a:noFill/>
          <a:ln w="25400">
            <a:solidFill>
              <a:srgbClr val="5048E5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167128" y="1097280"/>
            <a:ext cx="1389888" cy="2331720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42032" y="13258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052" y="14859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258568" y="210312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传照片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304288" y="2560320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人物、产品、店面（可选）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593592" y="2263140"/>
            <a:ext cx="246888" cy="0"/>
          </a:xfrm>
          <a:prstGeom prst="line">
            <a:avLst/>
          </a:prstGeom>
          <a:noFill/>
          <a:ln w="25400">
            <a:solidFill>
              <a:srgbClr val="5048E5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3877056" y="1097280"/>
            <a:ext cx="1389888" cy="2331720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251960" y="13258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980" y="148590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968496" y="210312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AI 编剧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4014216" y="2560320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写好每个镜头的画面和台词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303520" y="2263140"/>
            <a:ext cx="246888" cy="0"/>
          </a:xfrm>
          <a:prstGeom prst="line">
            <a:avLst/>
          </a:prstGeom>
          <a:noFill/>
          <a:ln w="25400">
            <a:solidFill>
              <a:srgbClr val="5048E5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5586984" y="1097280"/>
            <a:ext cx="1389888" cy="2331720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61888" y="13258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908" y="148590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678424" y="210312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AI 画分镜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5724144" y="2560320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照着照片画出画面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7013448" y="2263140"/>
            <a:ext cx="246888" cy="0"/>
          </a:xfrm>
          <a:prstGeom prst="line">
            <a:avLst/>
          </a:prstGeom>
          <a:noFill/>
          <a:ln w="25400">
            <a:solidFill>
              <a:srgbClr val="5048E5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7296912" y="1097280"/>
            <a:ext cx="1389888" cy="2331720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671816" y="13258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1836" y="1485900"/>
            <a:ext cx="320040" cy="32004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388352" y="210312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AI 成片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7434072" y="2560320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画面动起来，人物开口说话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457200" y="3703320"/>
            <a:ext cx="8229600" cy="777240"/>
          </a:xfrm>
          <a:prstGeom prst="roundRect">
            <a:avLst>
              <a:gd name="adj" fmla="val 1411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685800" y="37033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用户只做前两步，后面全部由 Agent 自动完成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每个环节只管一件事</a:t>
            </a:r>
            <a:endParaRPr lang="en-US" sz="2400" dirty="0"/>
          </a:p>
        </p:txBody>
      </p:sp>
      <p:graphicFrame>
        <p:nvGraphicFramePr>
          <p:cNvPr id="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32918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环节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拍什么、说什么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产品长什么样（看照片）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画面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画得对、画得真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画面上不写字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动起来、开口说话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不改剧情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先想清楚：拍哪一种片子</a:t>
            </a:r>
            <a:endParaRPr lang="en-US" sz="2400" dirty="0"/>
          </a:p>
        </p:txBody>
      </p:sp>
      <p:graphicFrame>
        <p:nvGraphicFramePr>
          <p:cNvPr id="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32918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什么时候用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故事型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客人还没打算买，心里有顾虑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先有一个问题，最后产品解决它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介绍型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有人物、有情绪，不需要冲突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讲清一件事，再拍一个动作证明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客人已经想买，只差信息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直接说：价格、时间、地址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我们踩过的坑</a:t>
            </a:r>
            <a:endParaRPr lang="en-US" sz="2400" dirty="0"/>
          </a:p>
        </p:txBody>
      </p:sp>
      <p:graphicFrame>
        <p:nvGraphicFramePr>
          <p:cNvPr id="8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926080"/>
                <a:gridCol w="25603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遇到的情况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真正的原因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学到的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换了几个 AI，都出同样的问题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我们自己的要求前后矛盾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先检查自己的要求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加了一句说明，还是没用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一句话改不了好几处相反的要求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找到矛盾的地方改掉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一下加了好多规矩，全出错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要求写得太长，AI 接不住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规矩越精简越好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说改好了，结果没变化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改的地方根本没起作用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一定要看做出来的视频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看一张截图就下结论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视频其他地方不一样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视频要从头看到尾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好的 AI 产品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让用户不用动脑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复杂的设置我们藏在背后，用户只要说清楚想要什么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小生意老板做营销内容，难在哪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不会拍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没有设备，也没有时间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8318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85750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85750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不会剪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285750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剪辑软件学不会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70916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98348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16687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98348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不会写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98348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不知道怎么写才吸引人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83514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10946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66878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10946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请人太贵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710946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外包一条，够自己做很多条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ThinkNova：给小生意做营销视频和海报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1600200" cy="3657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实体店老板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1024128"/>
            <a:ext cx="1600200" cy="3657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网店卖家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931920" y="1024128"/>
            <a:ext cx="1600200" cy="3657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靠服务赚钱的人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023360" cy="2971800"/>
          </a:xfrm>
          <a:prstGeom prst="roundRect">
            <a:avLst>
              <a:gd name="adj" fmla="val 369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8288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写几句话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或传一张产品图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0175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15 秒营销视频 / 海报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自动生成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754880" y="1600200"/>
            <a:ext cx="18745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1783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3490" y="1908810"/>
            <a:ext cx="251460" cy="25146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937760" y="23774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不用拍，不用剪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766560" y="1600200"/>
            <a:ext cx="18745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94944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170" y="1908810"/>
            <a:ext cx="251460" cy="25146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949440" y="23774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卖什么都能用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754880" y="3127248"/>
            <a:ext cx="18745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937760" y="331012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3490" y="3435858"/>
            <a:ext cx="251460" cy="2514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937760" y="390448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有新手引导和教程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766560" y="3127248"/>
            <a:ext cx="18745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949440" y="331012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5170" y="3435858"/>
            <a:ext cx="251460" cy="2514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949440" y="390448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注册送体验积分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现在就试试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thinknova.top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25603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23774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340" y="25374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3154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第 1 步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3474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打开官网，免费注册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054096" y="3154680"/>
            <a:ext cx="201168" cy="0"/>
          </a:xfrm>
          <a:prstGeom prst="line">
            <a:avLst/>
          </a:prstGeom>
          <a:noFill/>
          <a:ln w="25400">
            <a:solidFill>
              <a:srgbClr val="5048E5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291840" y="2103120"/>
            <a:ext cx="25603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51960" y="23774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80" y="25374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291840" y="3154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第 2 步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3429000" y="3474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选一个场景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888736" y="3154680"/>
            <a:ext cx="201168" cy="0"/>
          </a:xfrm>
          <a:prstGeom prst="line">
            <a:avLst/>
          </a:prstGeom>
          <a:noFill/>
          <a:ln w="25400">
            <a:solidFill>
              <a:srgbClr val="5048E5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6126480" y="2103120"/>
            <a:ext cx="25603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086600" y="23774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620" y="253746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126480" y="3154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第 3 步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6263640" y="3474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写几句话或传图，点生成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积分与活动以官网当天为准 · AI 生成内容请按平台规则标注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83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长视频：先审画面，再花钱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视频工作台（即将上线）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AI 先排好每个镜头，每个镜头先出画面给你看，满意了再生成视频，最后自动配音、加字幕、拼起来。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哪一段不满意，只重做那一段。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像拍电影：导演先过分镜稿，点头了才开机。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这就是前面讲的「检查放在最花钱的那一步前面」。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84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练习：写一份 5 个镜头的脚本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286000" cy="3520440"/>
          </a:xfrm>
          <a:prstGeom prst="roundRect">
            <a:avLst>
              <a:gd name="adj" fmla="val 48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课堂实操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动手试一试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017520" y="11887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01752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611880" y="10515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选一个你熟悉的商品，想想拍故事型、介绍型还是直接型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017520" y="18745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01752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17373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写 5 个镜头：每个写「拍什么」和「说什么」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017520" y="2560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1752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611880" y="24231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检查：画面有没有证明台词说的事？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017520" y="32461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01752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3611880" y="31089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检查：有没有用文字描述产品长相？（应该交给照片）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3017520" y="39319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01752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3611880" y="37947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检查：画面里有没有安排字？（视频里不该有）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85</a:t>
            </a:fld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09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874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记得提交到 GitHub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让 AI 的记忆和你的成果永远不丢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86</a:t>
            </a:fld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AI 的记忆存在哪？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电脑坏了会不会丢？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记忆、员工手册、技能包、做好的方案：其实都是文件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87</a:t>
            </a:fld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GitHub：云端保险柜 + 时光机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GitHub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全球最大的文件存放网站。把你的文件夹存到网上，每改一次都留一个存档。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存东西的地方叫「仓库」，就是网上的一个文件夹；存档这个动作叫「提交」。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云端保险柜加时光机：东西不会丢，还能回到以前任何一个存档。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不用会写代码，只要对 AI 说一句话就行。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88</a:t>
            </a:fld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GitHub 帮你管住 AI 的记忆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17370" cy="2331720"/>
          </a:xfrm>
          <a:prstGeom prst="roundRect">
            <a:avLst>
              <a:gd name="adj" fmla="val 60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5845" y="13258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865" y="14859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103120"/>
            <a:ext cx="16344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AI 干活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560320"/>
            <a:ext cx="15430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更新记忆、手册、成果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311146" y="2263140"/>
            <a:ext cx="246888" cy="0"/>
          </a:xfrm>
          <a:prstGeom prst="line">
            <a:avLst/>
          </a:prstGeom>
          <a:noFill/>
          <a:ln w="25400">
            <a:solidFill>
              <a:srgbClr val="5048E5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594610" y="1097280"/>
            <a:ext cx="1817370" cy="2331720"/>
          </a:xfrm>
          <a:prstGeom prst="roundRect">
            <a:avLst>
              <a:gd name="adj" fmla="val 60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183255" y="13258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275" y="14859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86050" y="2103120"/>
            <a:ext cx="16344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存到 GitHub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731770" y="2560320"/>
            <a:ext cx="15430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说一句话，AI 帮你存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448556" y="2263140"/>
            <a:ext cx="246888" cy="0"/>
          </a:xfrm>
          <a:prstGeom prst="line">
            <a:avLst/>
          </a:prstGeom>
          <a:noFill/>
          <a:ln w="25400">
            <a:solidFill>
              <a:srgbClr val="5048E5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4732020" y="1097280"/>
            <a:ext cx="1817370" cy="2331720"/>
          </a:xfrm>
          <a:prstGeom prst="roundRect">
            <a:avLst>
              <a:gd name="adj" fmla="val 60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320665" y="13258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0685" y="148590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823460" y="2103120"/>
            <a:ext cx="16344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每次都有存档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4869180" y="2560320"/>
            <a:ext cx="15430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改错了能退回去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585966" y="2263140"/>
            <a:ext cx="246888" cy="0"/>
          </a:xfrm>
          <a:prstGeom prst="line">
            <a:avLst/>
          </a:prstGeom>
          <a:noFill/>
          <a:ln w="25400">
            <a:solidFill>
              <a:srgbClr val="5048E5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6869430" y="1097280"/>
            <a:ext cx="1817370" cy="2331720"/>
          </a:xfrm>
          <a:prstGeom prst="roundRect">
            <a:avLst>
              <a:gd name="adj" fmla="val 60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458075" y="13258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8095" y="148590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960870" y="2103120"/>
            <a:ext cx="16344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随时拿回来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7006590" y="2560320"/>
            <a:ext cx="15430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换电脑、换同事都能用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57200" y="3703320"/>
            <a:ext cx="8229600" cy="777240"/>
          </a:xfrm>
          <a:prstGeom prst="roundRect">
            <a:avLst>
              <a:gd name="adj" fmla="val 1411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685800" y="37033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每天收工说一句：「帮我把今天的改动存到 GitHub」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89</a:t>
            </a:fld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三个好处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不丢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电脑坏了、文件删了，网上都有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6616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能退回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AI 改坏了，回到昨天的存档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2648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16687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能共享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团队用同一份规矩和记忆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90</a:t>
            </a:fld>
            <a:endParaRPr 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第一次怎么开始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176272" y="1737360"/>
            <a:ext cx="204825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155448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5544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注册账号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2670048"/>
            <a:ext cx="2596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在 github.com 免费注册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19472" y="1737360"/>
            <a:ext cx="204825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29768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976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建一个仓库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273552" y="2670048"/>
            <a:ext cx="2596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让 AI 帮你建，一定选「私有」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04088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408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989320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每天存一次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016752" y="2670048"/>
            <a:ext cx="2596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收工前说一句话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794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「私有」的意思是：只有你和你邀请的人能看到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91</a:t>
            </a:fld>
            <a:endParaRPr 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「帮我把今天的改动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存到 GitHub」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就这一句话。Claude Code 和 Codex 都会帮你完成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92</a:t>
            </a:fld>
            <a:endParaRPr 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三个好习惯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5214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234440"/>
            <a:ext cx="164592" cy="1645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05156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每天收工前，让 AI 存一次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1673352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773936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856232"/>
            <a:ext cx="164592" cy="16459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1560" y="1673352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仓库一定设成「私有」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57200" y="2295144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94360" y="239572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478024"/>
            <a:ext cx="164592" cy="16459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51560" y="2295144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密码、银行卡这类信息，不要放进文件里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93</a:t>
            </a:fld>
            <a:endParaRPr lang="en-US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10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874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总结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带走就能用的方法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94</a:t>
            </a:fld>
            <a:endParaRPr 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用 AI 干活的五个步骤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627632" y="1737360"/>
            <a:ext cx="95097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100584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说清楚要什么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2670048"/>
            <a:ext cx="1499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做完长什么样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737360"/>
            <a:ext cx="95097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5176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5176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先看方案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176272" y="2670048"/>
            <a:ext cx="1499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大事先让它说打算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19472" y="1737360"/>
            <a:ext cx="95097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29768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976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794760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一步一步做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822192" y="2670048"/>
            <a:ext cx="1499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做一步，看一步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65392" y="1737360"/>
            <a:ext cx="95097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94360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40680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看真实结果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468112" y="2670048"/>
            <a:ext cx="1499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不听它说，看它做的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58952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086600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记下来存起来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114032" y="2670048"/>
            <a:ext cx="1499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记进记忆，存到 GitHub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3794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不管用哪个 AI 工具，都是这五步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95</a:t>
            </a:fld>
            <a:endParaRPr lang="en-US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最常见的坑</a:t>
            </a:r>
            <a:endParaRPr lang="en-US" sz="2400" dirty="0"/>
          </a:p>
        </p:txBody>
      </p:sp>
      <p:graphicFrame>
        <p:nvGraphicFramePr>
          <p:cNvPr id="9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3891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常见做法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更好的做法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「帮我弄一下」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说清楚做什么、给谁看、多长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一个对话从早聊到晚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一件事开一个新对话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规矩越写越长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一页以内，定期清理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只说「别做什么」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直接说「要做什么」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它说做好了就信了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自己看一眼真实结果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一出问题就换 AI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先找原因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96</a:t>
            </a:fld>
            <a:endParaRPr 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安全提醒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5214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234440"/>
            <a:ext cx="164592" cy="1645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05156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密码、银行卡信息不要发给 AI，也不要写进文件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1673352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773936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856232"/>
            <a:ext cx="164592" cy="16459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1560" y="1673352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「全部放开」的权限模式，日常不要用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57200" y="2295144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94360" y="239572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478024"/>
            <a:ext cx="164592" cy="16459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51560" y="2295144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删除、发布这类操作，设成必须先问你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457200" y="2916936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94360" y="301752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3099816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51560" y="2916936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GitHub 仓库一定设成「私有」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97</a:t>
            </a:fld>
            <a:endParaRPr 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小测验</a:t>
            </a:r>
            <a:endParaRPr lang="en-US" sz="2400" dirty="0"/>
          </a:p>
        </p:txBody>
      </p:sp>
      <p:graphicFrame>
        <p:nvGraphicFramePr>
          <p:cNvPr id="9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76809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模型、Harness、Agent，分别像什么？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好提示词的四个要素是什么？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为什么「不许删客户资料」不能只是说一说？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换了三个 AI 都出同一个问题，你先查什么？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视频里人物前后长得不一样，怎么解决？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的记忆存在哪？怎么保证它不丢？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98</a:t>
            </a:fld>
            <a:endParaRPr lang="en-US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回去第一周，做这四件事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装一个工具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Claude Code 或 Codex 的桌面 App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8318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85750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85750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写一份手册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285750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给你最常做的一件工作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70916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98348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16687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98348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做一个技能包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98348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把重复的活变成固定流程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83514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10946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66878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10946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存到 GitHub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710946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每天收工前说一句话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99</a:t>
            </a:fld>
            <a:endParaRPr lang="en-US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谢谢！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答疑时间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thinknova.top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inkNova AI Course">
  <a:themeElements>
    <a:clrScheme name="ThinkNova AI Course">
      <a:dk1>
        <a:srgbClr val="1C1D3A"/>
      </a:dk1>
      <a:lt1>
        <a:srgbClr val="FFFFFF"/>
      </a:lt1>
      <a:dk2>
        <a:srgbClr val="4A4E73"/>
      </a:dk2>
      <a:lt2>
        <a:srgbClr val="F1F0FA"/>
      </a:lt2>
      <a:accent1>
        <a:srgbClr val="FF6A3D"/>
      </a:accent1>
      <a:accent2>
        <a:srgbClr val="5048E5"/>
      </a:accent2>
      <a:accent3>
        <a:srgbClr val="12A594"/>
      </a:accent3>
      <a:accent4>
        <a:srgbClr val="F2B33D"/>
      </a:accent4>
      <a:accent5>
        <a:srgbClr val="B9B6E8"/>
      </a:accent5>
      <a:accent6>
        <a:srgbClr val="E5484D"/>
      </a:accent6>
      <a:hlink>
        <a:srgbClr val="5048E5"/>
      </a:hlink>
      <a:folHlink>
        <a:srgbClr val="8A84E8"/>
      </a:folHlink>
    </a:clrScheme>
    <a:fontScheme name="ThinkNova AI Cours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100</Slides>
  <Notes>100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</vt:vector>
  </TitlesOfParts>
  <Company>ThinkNova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实战课（完整版）</dc:title>
  <dc:subject>PptxGenJS Presentation</dc:subject>
  <dc:creator>ThinkNova</dc:creator>
  <cp:lastModifiedBy>ThinkNova</cp:lastModifiedBy>
  <cp:revision>1</cp:revision>
  <dcterms:created xsi:type="dcterms:W3CDTF">2026-10-09T08:37:26Z</dcterms:created>
  <dcterms:modified xsi:type="dcterms:W3CDTF">2026-10-09T08:37:26Z</dcterms:modified>
</cp:coreProperties>
</file>